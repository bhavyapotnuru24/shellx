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embeddedFontLst>
    <p:embeddedFont>
      <p:font typeface="Unbounded" panose="020B0604020202020204" charset="0"/>
      <p:regular r:id="rId14"/>
    </p:embeddedFon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Consolas" panose="020B0609020204030204" pitchFamily="49" charset="0"/>
      <p:regular r:id="rId19"/>
      <p:bold r:id="rId20"/>
      <p:italic r:id="rId21"/>
      <p:boldItalic r:id="rId22"/>
    </p:embeddedFont>
    <p:embeddedFont>
      <p:font typeface="Cabin" panose="020B0604020202020204" charset="0"/>
      <p:regular r:id="rId23"/>
    </p:embeddedFont>
    <p:embeddedFont>
      <p:font typeface="Cabin Bold" panose="020B0604020202020204" charset="0"/>
      <p:regular r:id="rId2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49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72581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4-2.svg"/><Relationship Id="rId5" Type="http://schemas.openxmlformats.org/officeDocument/2006/relationships/image" Target="../media/image-4-2.svg"/><Relationship Id="rId4" Type="http://schemas.openxmlformats.org/officeDocument/2006/relationships/image" Target="../media/image-4-2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2.jpeg"/><Relationship Id="rId7" Type="http://schemas.openxmlformats.org/officeDocument/2006/relationships/image" Target="../media/image-5-3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5-3.svg"/><Relationship Id="rId5" Type="http://schemas.openxmlformats.org/officeDocument/2006/relationships/image" Target="../media/image-5-3.sv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-9-6.svg"/><Relationship Id="rId13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0.png"/><Relationship Id="rId12" Type="http://schemas.openxmlformats.org/officeDocument/2006/relationships/image" Target="../media/image-9-10.svg"/><Relationship Id="rId17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-9-14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9-4.svg"/><Relationship Id="rId11" Type="http://schemas.openxmlformats.org/officeDocument/2006/relationships/image" Target="../media/image22.png"/><Relationship Id="rId5" Type="http://schemas.openxmlformats.org/officeDocument/2006/relationships/image" Target="../media/image19.png"/><Relationship Id="rId15" Type="http://schemas.openxmlformats.org/officeDocument/2006/relationships/image" Target="../media/image24.png"/><Relationship Id="rId10" Type="http://schemas.openxmlformats.org/officeDocument/2006/relationships/image" Target="../media/image-9-8.svg"/><Relationship Id="rId4" Type="http://schemas.openxmlformats.org/officeDocument/2006/relationships/image" Target="../media/image-9-2.svg"/><Relationship Id="rId9" Type="http://schemas.openxmlformats.org/officeDocument/2006/relationships/image" Target="../media/image21.png"/><Relationship Id="rId14" Type="http://schemas.openxmlformats.org/officeDocument/2006/relationships/image" Target="../media/image-9-12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-10-2.svg"/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10-2.svg"/><Relationship Id="rId5" Type="http://schemas.openxmlformats.org/officeDocument/2006/relationships/image" Target="../media/image-10-2.svg"/><Relationship Id="rId10" Type="http://schemas.openxmlformats.org/officeDocument/2006/relationships/image" Target="../media/image-10-10.svg"/><Relationship Id="rId4" Type="http://schemas.openxmlformats.org/officeDocument/2006/relationships/image" Target="../media/image-10-2.svg"/><Relationship Id="rId9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69971" y="2269430"/>
            <a:ext cx="6223638" cy="1173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ShellX — Student Linux Toolkit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5269971" y="3741936"/>
            <a:ext cx="6833223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Review 2 · Literature Review &amp; Research Gap Analysis</a:t>
            </a:r>
            <a:endParaRPr lang="en-US" sz="1550" dirty="0"/>
          </a:p>
        </p:txBody>
      </p:sp>
      <p:sp>
        <p:nvSpPr>
          <p:cNvPr id="5" name="Shape 2"/>
          <p:cNvSpPr/>
          <p:nvPr/>
        </p:nvSpPr>
        <p:spPr>
          <a:xfrm>
            <a:off x="5269971" y="4285456"/>
            <a:ext cx="4448163" cy="303113"/>
          </a:xfrm>
          <a:prstGeom prst="roundRect">
            <a:avLst>
              <a:gd name="adj" fmla="val 7897"/>
            </a:avLst>
          </a:prstGeom>
          <a:noFill/>
          <a:ln w="6350">
            <a:solidFill>
              <a:srgbClr val="0A988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389626" y="4345285"/>
            <a:ext cx="4818438" cy="183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50" dirty="0">
                <a:solidFill>
                  <a:srgbClr val="0A988B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OSSP PROJECT · B.TECH 2ND YEAR · TEAM: TECH TOGETHER</a:t>
            </a:r>
            <a:endParaRPr lang="en-US" sz="1250" dirty="0"/>
          </a:p>
        </p:txBody>
      </p:sp>
      <p:sp>
        <p:nvSpPr>
          <p:cNvPr id="7" name="TextBox 6"/>
          <p:cNvSpPr txBox="1"/>
          <p:nvPr/>
        </p:nvSpPr>
        <p:spPr>
          <a:xfrm>
            <a:off x="5269971" y="5064369"/>
            <a:ext cx="62161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 smtClean="0">
                <a:solidFill>
                  <a:schemeClr val="bg1"/>
                </a:solidFill>
              </a:rPr>
              <a:t>P.Bhavya</a:t>
            </a:r>
            <a:r>
              <a:rPr lang="en-IN" dirty="0" smtClean="0">
                <a:solidFill>
                  <a:schemeClr val="bg1"/>
                </a:solidFill>
              </a:rPr>
              <a:t> - 2510030379</a:t>
            </a:r>
          </a:p>
          <a:p>
            <a:r>
              <a:rPr lang="en-IN" dirty="0" err="1" smtClean="0">
                <a:solidFill>
                  <a:schemeClr val="bg1"/>
                </a:solidFill>
              </a:rPr>
              <a:t>Sejal</a:t>
            </a:r>
            <a:r>
              <a:rPr lang="en-IN" dirty="0" smtClean="0">
                <a:solidFill>
                  <a:schemeClr val="bg1"/>
                </a:solidFill>
              </a:rPr>
              <a:t> </a:t>
            </a:r>
            <a:r>
              <a:rPr lang="en-IN" dirty="0" err="1" smtClean="0">
                <a:solidFill>
                  <a:schemeClr val="bg1"/>
                </a:solidFill>
              </a:rPr>
              <a:t>Heda</a:t>
            </a:r>
            <a:r>
              <a:rPr lang="en-IN" dirty="0" smtClean="0">
                <a:solidFill>
                  <a:schemeClr val="bg1"/>
                </a:solidFill>
              </a:rPr>
              <a:t> - 2510030350</a:t>
            </a:r>
          </a:p>
          <a:p>
            <a:r>
              <a:rPr lang="en-IN" dirty="0" err="1" smtClean="0">
                <a:solidFill>
                  <a:schemeClr val="bg1"/>
                </a:solidFill>
              </a:rPr>
              <a:t>B.Siri</a:t>
            </a:r>
            <a:r>
              <a:rPr lang="en-IN" dirty="0" smtClean="0">
                <a:solidFill>
                  <a:schemeClr val="bg1"/>
                </a:solidFill>
              </a:rPr>
              <a:t> - 2510030325</a:t>
            </a:r>
          </a:p>
          <a:p>
            <a:r>
              <a:rPr lang="en-IN" dirty="0" err="1" smtClean="0">
                <a:solidFill>
                  <a:schemeClr val="bg1"/>
                </a:solidFill>
              </a:rPr>
              <a:t>Hansika</a:t>
            </a:r>
            <a:r>
              <a:rPr lang="en-IN" dirty="0" smtClean="0">
                <a:solidFill>
                  <a:schemeClr val="bg1"/>
                </a:solidFill>
              </a:rPr>
              <a:t> - 2510030330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69971" y="754757"/>
            <a:ext cx="6223638" cy="880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Problem Background &amp; Motivation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5269971" y="1915220"/>
            <a:ext cx="2929360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The Core Challenge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5269971" y="2247305"/>
            <a:ext cx="2929360" cy="1256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Linux command-line interfaces are powerful but present a steep initial learning curve for beginners. Users must simultaneously remember commands, syntax, options, and command sequences — creating a significant cognitive burden.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5494299" y="3731121"/>
            <a:ext cx="2705032" cy="628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"How can Linux operations be made easier for beginners without completely hiding the underlying command-line concepts?"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269971" y="3630216"/>
            <a:ext cx="19050" cy="830163"/>
          </a:xfrm>
          <a:prstGeom prst="roundRect">
            <a:avLst>
              <a:gd name="adj" fmla="val 49999"/>
            </a:avLst>
          </a:prstGeom>
          <a:solidFill>
            <a:srgbClr val="0A988B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0599" y="1929309"/>
            <a:ext cx="747991" cy="1050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430705" y="2078831"/>
            <a:ext cx="2069254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Beginner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9430705" y="2410916"/>
            <a:ext cx="2069254" cy="418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Encounters the CLI for the first time</a:t>
            </a:r>
            <a:endParaRPr lang="en-US" sz="11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0599" y="2979341"/>
            <a:ext cx="747991" cy="105003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430705" y="3128863"/>
            <a:ext cx="2069254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Command Syntax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9430705" y="3460948"/>
            <a:ext cx="2069254" cy="418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Must recall exact commands &amp; flags</a:t>
            </a:r>
            <a:endParaRPr lang="en-US" sz="11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0599" y="4029373"/>
            <a:ext cx="747991" cy="89763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430705" y="4178895"/>
            <a:ext cx="2069254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Memory Load</a:t>
            </a:r>
            <a:endParaRPr lang="en-US" sz="1350" dirty="0"/>
          </a:p>
        </p:txBody>
      </p:sp>
      <p:sp>
        <p:nvSpPr>
          <p:cNvPr id="16" name="Text 10"/>
          <p:cNvSpPr/>
          <p:nvPr/>
        </p:nvSpPr>
        <p:spPr>
          <a:xfrm>
            <a:off x="9430705" y="4510980"/>
            <a:ext cx="2069254" cy="209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Cognitive overload from options</a:t>
            </a:r>
            <a:endParaRPr lang="en-US" sz="115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0599" y="4927005"/>
            <a:ext cx="747991" cy="105003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9430705" y="5076527"/>
            <a:ext cx="2069254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Errors &amp; Barrier</a:t>
            </a:r>
            <a:endParaRPr lang="en-US" sz="1350" dirty="0"/>
          </a:p>
        </p:txBody>
      </p:sp>
      <p:sp>
        <p:nvSpPr>
          <p:cNvPr id="19" name="Text 12"/>
          <p:cNvSpPr/>
          <p:nvPr/>
        </p:nvSpPr>
        <p:spPr>
          <a:xfrm>
            <a:off x="9430705" y="5408613"/>
            <a:ext cx="2069254" cy="418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Mistakes → frustration → learning barrier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70805"/>
            <a:ext cx="10795524" cy="327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ShellX Project Structure &amp; Implementation Overview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698086" y="991890"/>
            <a:ext cx="10795524" cy="549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This screenshot illustrates the proposed modular architecture of ShellX, showcasing its main menu system and various core modules: File Manager, Command Runner, Notes Manager, Calculator, System Information, and Password Generator. This design emphasizes ease of navigation and a clear separation of functionalities for a streamlined user experience.</a:t>
            </a:r>
            <a:endParaRPr lang="en-US" sz="12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86" y="1722239"/>
            <a:ext cx="5826277" cy="45649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778073"/>
            <a:ext cx="10795524" cy="938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Literature Review — Novice Command-Line Interaction</a:t>
            </a:r>
            <a:endParaRPr lang="en-US" sz="2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698086" y="1972171"/>
            <a:ext cx="3513446" cy="34122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335154" y="2081014"/>
            <a:ext cx="239310" cy="2991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876675" y="2597547"/>
            <a:ext cx="3156268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Lewis &amp; Jamison (1989)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876675" y="2908796"/>
            <a:ext cx="3156268" cy="1837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250" i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"Problem Solving in Naive Users"</a:t>
            </a:r>
            <a:endParaRPr lang="en-US" sz="1250" dirty="0"/>
          </a:p>
          <a:p>
            <a:pPr marL="0" indent="0" algn="l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Focus:</a:t>
            </a:r>
            <a:r>
              <a:rPr lang="en-US" sz="12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Unix Tutor and novice Unix users; menu-based assistance for beginners.</a:t>
            </a:r>
            <a:endParaRPr lang="en-US" sz="1250" dirty="0"/>
          </a:p>
          <a:p>
            <a:pPr marL="0" indent="0" algn="l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Key Insight:</a:t>
            </a:r>
            <a:r>
              <a:rPr lang="en-US" sz="12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Guided interaction can support novice Unix users.</a:t>
            </a:r>
            <a:endParaRPr lang="en-US" sz="12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Limitation:</a:t>
            </a:r>
            <a:r>
              <a:rPr lang="en-US" sz="12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Focused on Unix learning rather than an integrated student utility toolkit.</a:t>
            </a:r>
            <a:endParaRPr lang="en-US" sz="12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4339124" y="1972171"/>
            <a:ext cx="3513446" cy="341223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976193" y="2081014"/>
            <a:ext cx="239310" cy="2991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2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4517714" y="2597547"/>
            <a:ext cx="3156268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Herrera &amp; Ward (2005)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4517714" y="2908796"/>
            <a:ext cx="3156268" cy="2297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250" i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"Training Wheels for the Command Line"</a:t>
            </a:r>
            <a:endParaRPr lang="en-US" sz="1250" dirty="0"/>
          </a:p>
          <a:p>
            <a:pPr marL="0" indent="0" algn="l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Focus:</a:t>
            </a:r>
            <a:r>
              <a:rPr lang="en-US" sz="12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Assistance mechanisms using visible choices, guidance, feedback and documentation.</a:t>
            </a:r>
            <a:endParaRPr lang="en-US" sz="1250" dirty="0"/>
          </a:p>
          <a:p>
            <a:pPr marL="0" indent="0" algn="l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Key Insight:</a:t>
            </a:r>
            <a:r>
              <a:rPr lang="en-US" sz="12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Guided command construction reduces the burden on beginners.</a:t>
            </a:r>
            <a:endParaRPr lang="en-US" sz="12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Limitation:</a:t>
            </a:r>
            <a:r>
              <a:rPr lang="en-US" sz="12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Focused on command-line assistance rather than a broader student toolkit.</a:t>
            </a:r>
            <a:endParaRPr lang="en-US" sz="12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7980163" y="1972171"/>
            <a:ext cx="3513446" cy="341223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617231" y="2081014"/>
            <a:ext cx="239310" cy="2991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3</a:t>
            </a:r>
            <a:endParaRPr lang="en-US" sz="1850" dirty="0"/>
          </a:p>
        </p:txBody>
      </p:sp>
      <p:sp>
        <p:nvSpPr>
          <p:cNvPr id="13" name="Text 8"/>
          <p:cNvSpPr/>
          <p:nvPr/>
        </p:nvSpPr>
        <p:spPr>
          <a:xfrm>
            <a:off x="8158752" y="2597547"/>
            <a:ext cx="3156268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Durham &amp; Emurian (1998)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8158752" y="2908796"/>
            <a:ext cx="3156268" cy="2067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250" i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"Learning and Retention with a Menu and a Command Line Interface"</a:t>
            </a:r>
            <a:endParaRPr lang="en-US" sz="1250" dirty="0"/>
          </a:p>
          <a:p>
            <a:pPr marL="0" indent="0" algn="l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Focus:</a:t>
            </a:r>
            <a:r>
              <a:rPr lang="en-US" sz="12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Compared menu-based and command-line interaction for Unix learning.</a:t>
            </a:r>
            <a:endParaRPr lang="en-US" sz="1250" dirty="0"/>
          </a:p>
          <a:p>
            <a:pPr marL="0" indent="0" algn="l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Key Insight:</a:t>
            </a:r>
            <a:r>
              <a:rPr lang="en-US" sz="12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Interface style directly affects learning and retention outcomes.</a:t>
            </a:r>
            <a:endParaRPr lang="en-US" sz="12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Limitation:</a:t>
            </a:r>
            <a:r>
              <a:rPr lang="en-US" sz="12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Focused on interface comparison rather than integrating multiple Linux utilities.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698086" y="5527973"/>
            <a:ext cx="10795524" cy="551954"/>
          </a:xfrm>
          <a:prstGeom prst="roundRect">
            <a:avLst>
              <a:gd name="adj" fmla="val 4337"/>
            </a:avLst>
          </a:prstGeom>
          <a:solidFill>
            <a:srgbClr val="08786D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625" y="5714603"/>
            <a:ext cx="199425" cy="15954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216590" y="5695454"/>
            <a:ext cx="10727064" cy="229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Key Literature Insight:</a:t>
            </a:r>
            <a:r>
              <a:rPr lang="en-US" sz="125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Guidance can reduce the initial difficulty of CLI interaction, while still allowing users to understand the underlying commands.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52053"/>
            <a:ext cx="10795524" cy="762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Literature Review — Modern Learning &amp; Command Assistance</a:t>
            </a:r>
            <a:endParaRPr lang="en-US" sz="2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3347" y="2325191"/>
            <a:ext cx="2322256" cy="3096419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4593515" y="1535807"/>
            <a:ext cx="2245959" cy="255002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818339" y="1684437"/>
            <a:ext cx="1872509" cy="3811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Winder et al. (2024) — Shell Tutor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4818339" y="2149872"/>
            <a:ext cx="1872509" cy="1787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spcAft>
                <a:spcPts val="550"/>
              </a:spcAft>
              <a:buNone/>
            </a:pPr>
            <a:r>
              <a:rPr lang="en-US" sz="1000" i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"An Intelligent Tutoring System for the UNIX Command Shell and Git"</a:t>
            </a:r>
            <a:endParaRPr lang="en-US" sz="10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Supports structured shell learning with tutoring-oriented assistance and interaction logging. </a:t>
            </a:r>
            <a:r>
              <a:rPr lang="en-US" sz="10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Limitation:</a:t>
            </a: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Primarily tutoring-oriented, not an integrated everyday Linux utility environment.</a:t>
            </a:r>
            <a:endParaRPr lang="en-US" sz="10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6923708" y="1535807"/>
            <a:ext cx="2245959" cy="255002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148532" y="1684437"/>
            <a:ext cx="1872509" cy="190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tldr-pages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7148532" y="1959273"/>
            <a:ext cx="1872509" cy="11980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Concise, practical examples for Linux commands — makes documentation accessible for beginners. </a:t>
            </a:r>
            <a:r>
              <a:rPr lang="en-US" sz="10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Limitation:</a:t>
            </a: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Primarily a command-reference/documentation system with no task integration.</a:t>
            </a:r>
            <a:endParaRPr lang="en-US" sz="10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9253901" y="1535807"/>
            <a:ext cx="2245959" cy="255002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478725" y="1684437"/>
            <a:ext cx="1872509" cy="3811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Traditional Linux man pages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9478725" y="2149872"/>
            <a:ext cx="1872509" cy="8557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Comprehensive and authoritative command reference. </a:t>
            </a:r>
            <a:r>
              <a:rPr lang="en-US" sz="10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Limitation:</a:t>
            </a: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Difficult for beginners due to the volume and technical depth of information presented.</a:t>
            </a:r>
            <a:endParaRPr lang="en-US" sz="10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28360" y="4180582"/>
            <a:ext cx="4436654" cy="203051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9225498" y="5733636"/>
            <a:ext cx="832928" cy="150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Integration</a:t>
            </a:r>
            <a:endParaRPr lang="en-US" sz="950" dirty="0"/>
          </a:p>
        </p:txBody>
      </p:sp>
      <p:sp>
        <p:nvSpPr>
          <p:cNvPr id="15" name="Text 8"/>
          <p:cNvSpPr/>
          <p:nvPr/>
        </p:nvSpPr>
        <p:spPr>
          <a:xfrm>
            <a:off x="8175780" y="5733636"/>
            <a:ext cx="832928" cy="150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Tutoring</a:t>
            </a:r>
            <a:endParaRPr lang="en-US" sz="950" dirty="0"/>
          </a:p>
        </p:txBody>
      </p:sp>
      <p:sp>
        <p:nvSpPr>
          <p:cNvPr id="16" name="Text 9"/>
          <p:cNvSpPr/>
          <p:nvPr/>
        </p:nvSpPr>
        <p:spPr>
          <a:xfrm>
            <a:off x="7131767" y="5658221"/>
            <a:ext cx="832928" cy="3018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Command Assistance</a:t>
            </a:r>
            <a:endParaRPr lang="en-US" sz="950" dirty="0"/>
          </a:p>
        </p:txBody>
      </p:sp>
      <p:sp>
        <p:nvSpPr>
          <p:cNvPr id="17" name="Text 10"/>
          <p:cNvSpPr/>
          <p:nvPr/>
        </p:nvSpPr>
        <p:spPr>
          <a:xfrm>
            <a:off x="6064934" y="5658221"/>
            <a:ext cx="832928" cy="3018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Documentation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800298"/>
            <a:ext cx="10795524" cy="528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Comparison of Existing Solutions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98086" y="1651496"/>
            <a:ext cx="10795524" cy="5455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The table below positions ShellX against reviewed tools across key dimensions. ShellX is a </a:t>
            </a:r>
            <a:r>
              <a:rPr lang="en-US" sz="14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proposed</a:t>
            </a:r>
            <a:r>
              <a:rPr 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integrated toolkit; this comparison represents project positioning and does not claim superiority over specialised systems.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98086" y="2378770"/>
            <a:ext cx="10795524" cy="3678833"/>
          </a:xfrm>
          <a:prstGeom prst="roundRect">
            <a:avLst>
              <a:gd name="adj" fmla="val 732"/>
            </a:avLst>
          </a:prstGeom>
          <a:noFill/>
          <a:ln w="635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8086" y="3140373"/>
            <a:ext cx="10795524" cy="11221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98086" y="3626048"/>
            <a:ext cx="10795524" cy="11221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98086" y="4111724"/>
            <a:ext cx="10795524" cy="11221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98086" y="4597400"/>
            <a:ext cx="10795524" cy="11221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98086" y="5083076"/>
            <a:ext cx="10795524" cy="11221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98086" y="5568752"/>
            <a:ext cx="10795524" cy="11221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04733" y="2385120"/>
            <a:ext cx="2372162" cy="755253"/>
          </a:xfrm>
          <a:custGeom>
            <a:avLst/>
            <a:gdLst/>
            <a:ahLst/>
            <a:cxnLst/>
            <a:rect l="l" t="t" r="r" b="b"/>
            <a:pathLst>
              <a:path w="2372162" h="755253">
                <a:moveTo>
                  <a:pt x="22441" y="0"/>
                </a:moveTo>
                <a:lnTo>
                  <a:pt x="2372162" y="0"/>
                </a:lnTo>
                <a:lnTo>
                  <a:pt x="2372162" y="755253"/>
                </a:lnTo>
                <a:lnTo>
                  <a:pt x="0" y="755253"/>
                </a:lnTo>
                <a:lnTo>
                  <a:pt x="0" y="22442"/>
                </a:lnTo>
                <a:arcTo wR="22441" hR="22442" stAng="10800000" swAng="5400000"/>
                <a:close/>
              </a:path>
            </a:pathLst>
          </a:custGeom>
          <a:solidFill>
            <a:srgbClr val="0B1F3A"/>
          </a:solidFill>
          <a:ln/>
        </p:spPr>
      </p:sp>
      <p:sp>
        <p:nvSpPr>
          <p:cNvPr id="12" name="Text 10"/>
          <p:cNvSpPr/>
          <p:nvPr/>
        </p:nvSpPr>
        <p:spPr>
          <a:xfrm>
            <a:off x="884215" y="2488406"/>
            <a:ext cx="2622782" cy="272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Solution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076895" y="2385120"/>
            <a:ext cx="1401727" cy="755253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4" name="Text 12"/>
          <p:cNvSpPr/>
          <p:nvPr/>
        </p:nvSpPr>
        <p:spPr>
          <a:xfrm>
            <a:off x="3256377" y="2488406"/>
            <a:ext cx="1042763" cy="5455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Beginner Guidance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478622" y="2385120"/>
            <a:ext cx="1401727" cy="755253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6" name="Text 14"/>
          <p:cNvSpPr/>
          <p:nvPr/>
        </p:nvSpPr>
        <p:spPr>
          <a:xfrm>
            <a:off x="4658105" y="2488406"/>
            <a:ext cx="1042763" cy="5455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Command Help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880350" y="2385120"/>
            <a:ext cx="1401727" cy="755253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8" name="Text 16"/>
          <p:cNvSpPr/>
          <p:nvPr/>
        </p:nvSpPr>
        <p:spPr>
          <a:xfrm>
            <a:off x="6059832" y="2488406"/>
            <a:ext cx="1042763" cy="5455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Practical Linux Tasks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282077" y="2385120"/>
            <a:ext cx="1401727" cy="755253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20" name="Text 18"/>
          <p:cNvSpPr/>
          <p:nvPr/>
        </p:nvSpPr>
        <p:spPr>
          <a:xfrm>
            <a:off x="7461559" y="2488406"/>
            <a:ext cx="1042763" cy="5455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System Utilities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683805" y="2385120"/>
            <a:ext cx="1401727" cy="755253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22" name="Text 20"/>
          <p:cNvSpPr/>
          <p:nvPr/>
        </p:nvSpPr>
        <p:spPr>
          <a:xfrm>
            <a:off x="8863287" y="2488406"/>
            <a:ext cx="1042763" cy="5455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Integrated Toolkit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0085532" y="2385120"/>
            <a:ext cx="1401727" cy="755253"/>
          </a:xfrm>
          <a:custGeom>
            <a:avLst/>
            <a:gdLst/>
            <a:ahLst/>
            <a:cxnLst/>
            <a:rect l="l" t="t" r="r" b="b"/>
            <a:pathLst>
              <a:path w="1401727" h="755253">
                <a:moveTo>
                  <a:pt x="0" y="0"/>
                </a:moveTo>
                <a:lnTo>
                  <a:pt x="1379286" y="0"/>
                </a:lnTo>
                <a:arcTo wR="22441" hR="22442" stAng="16200000" swAng="5400000"/>
                <a:lnTo>
                  <a:pt x="1401727" y="755253"/>
                </a:lnTo>
                <a:lnTo>
                  <a:pt x="0" y="755253"/>
                </a:lnTo>
                <a:lnTo>
                  <a:pt x="0" y="0"/>
                </a:lnTo>
                <a:close/>
              </a:path>
            </a:pathLst>
          </a:custGeom>
          <a:solidFill>
            <a:srgbClr val="0B1F3A"/>
          </a:solidFill>
          <a:ln/>
        </p:spPr>
      </p:sp>
      <p:sp>
        <p:nvSpPr>
          <p:cNvPr id="24" name="Text 22"/>
          <p:cNvSpPr/>
          <p:nvPr/>
        </p:nvSpPr>
        <p:spPr>
          <a:xfrm>
            <a:off x="10265014" y="2488406"/>
            <a:ext cx="1042763" cy="5455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Learning Focus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84215" y="3246834"/>
            <a:ext cx="2622782" cy="272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Traditional CLI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256377" y="3246834"/>
            <a:ext cx="1652348" cy="272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Low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58105" y="3246834"/>
            <a:ext cx="1652348" cy="272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Manual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059832" y="3246834"/>
            <a:ext cx="1652348" cy="272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✓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461559" y="3246834"/>
            <a:ext cx="1652348" cy="272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✓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863287" y="3246834"/>
            <a:ext cx="1652348" cy="272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—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0265014" y="3246834"/>
            <a:ext cx="1652348" cy="272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Low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84215" y="3732510"/>
            <a:ext cx="2622782" cy="272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Unix Tutor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256377" y="3732510"/>
            <a:ext cx="1652348" cy="272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High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658105" y="3732510"/>
            <a:ext cx="1652348" cy="272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✓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059832" y="3732510"/>
            <a:ext cx="1652348" cy="272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Limited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461559" y="3732510"/>
            <a:ext cx="1652348" cy="272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Limited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863287" y="3732510"/>
            <a:ext cx="1652348" cy="272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—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10265014" y="3732510"/>
            <a:ext cx="1652348" cy="272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High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884215" y="4218186"/>
            <a:ext cx="2622782" cy="272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Training Wheels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3256377" y="4218186"/>
            <a:ext cx="1652348" cy="272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High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4658105" y="4218186"/>
            <a:ext cx="1652348" cy="272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✓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059832" y="4218186"/>
            <a:ext cx="1652348" cy="272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Limited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7461559" y="4218186"/>
            <a:ext cx="1652348" cy="272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Limited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8863287" y="4218186"/>
            <a:ext cx="1652348" cy="272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—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10265014" y="4218186"/>
            <a:ext cx="1652348" cy="272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High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884215" y="4703862"/>
            <a:ext cx="2622782" cy="272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Shell Tutor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3256377" y="4703862"/>
            <a:ext cx="1652348" cy="272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High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4658105" y="4703862"/>
            <a:ext cx="1652348" cy="272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✓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6059832" y="4703862"/>
            <a:ext cx="1652348" cy="272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Limited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7461559" y="4703862"/>
            <a:ext cx="1652348" cy="272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Limited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8863287" y="4703862"/>
            <a:ext cx="1652348" cy="272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—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10265014" y="4703862"/>
            <a:ext cx="1652348" cy="272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High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884215" y="5189537"/>
            <a:ext cx="2622782" cy="272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tldr-pages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3256377" y="5189537"/>
            <a:ext cx="1652348" cy="272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Medium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4658105" y="5189537"/>
            <a:ext cx="1652348" cy="272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✓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6059832" y="5189537"/>
            <a:ext cx="1652348" cy="272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—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7461559" y="5189537"/>
            <a:ext cx="1652348" cy="272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—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8863287" y="5189537"/>
            <a:ext cx="1652348" cy="272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—</a:t>
            </a:r>
            <a:endParaRPr lang="en-US" sz="1400" dirty="0"/>
          </a:p>
        </p:txBody>
      </p:sp>
      <p:sp>
        <p:nvSpPr>
          <p:cNvPr id="59" name="Text 57"/>
          <p:cNvSpPr/>
          <p:nvPr/>
        </p:nvSpPr>
        <p:spPr>
          <a:xfrm>
            <a:off x="10265014" y="5189537"/>
            <a:ext cx="1652348" cy="272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Medium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884215" y="5675213"/>
            <a:ext cx="2622782" cy="272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ShellX (Proposed)</a:t>
            </a:r>
            <a:endParaRPr lang="en-US" sz="1400" dirty="0"/>
          </a:p>
        </p:txBody>
      </p:sp>
      <p:sp>
        <p:nvSpPr>
          <p:cNvPr id="61" name="Text 59"/>
          <p:cNvSpPr/>
          <p:nvPr/>
        </p:nvSpPr>
        <p:spPr>
          <a:xfrm>
            <a:off x="3256377" y="5675213"/>
            <a:ext cx="1652348" cy="272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High</a:t>
            </a:r>
            <a:endParaRPr lang="en-US" sz="1400" dirty="0"/>
          </a:p>
        </p:txBody>
      </p:sp>
      <p:sp>
        <p:nvSpPr>
          <p:cNvPr id="62" name="Text 60"/>
          <p:cNvSpPr/>
          <p:nvPr/>
        </p:nvSpPr>
        <p:spPr>
          <a:xfrm>
            <a:off x="4658105" y="5675213"/>
            <a:ext cx="1652348" cy="272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✓</a:t>
            </a:r>
            <a:endParaRPr lang="en-US" sz="1400" dirty="0"/>
          </a:p>
        </p:txBody>
      </p:sp>
      <p:sp>
        <p:nvSpPr>
          <p:cNvPr id="63" name="Text 61"/>
          <p:cNvSpPr/>
          <p:nvPr/>
        </p:nvSpPr>
        <p:spPr>
          <a:xfrm>
            <a:off x="6059832" y="5675213"/>
            <a:ext cx="1652348" cy="272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✓</a:t>
            </a:r>
            <a:endParaRPr lang="en-US" sz="1400" dirty="0"/>
          </a:p>
        </p:txBody>
      </p:sp>
      <p:sp>
        <p:nvSpPr>
          <p:cNvPr id="64" name="Text 62"/>
          <p:cNvSpPr/>
          <p:nvPr/>
        </p:nvSpPr>
        <p:spPr>
          <a:xfrm>
            <a:off x="7461559" y="5675213"/>
            <a:ext cx="1652348" cy="272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✓</a:t>
            </a:r>
            <a:endParaRPr lang="en-US" sz="1400" dirty="0"/>
          </a:p>
        </p:txBody>
      </p:sp>
      <p:sp>
        <p:nvSpPr>
          <p:cNvPr id="65" name="Text 63"/>
          <p:cNvSpPr/>
          <p:nvPr/>
        </p:nvSpPr>
        <p:spPr>
          <a:xfrm>
            <a:off x="8863287" y="5675213"/>
            <a:ext cx="1652348" cy="272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✓</a:t>
            </a:r>
            <a:endParaRPr lang="en-US" sz="1400" dirty="0"/>
          </a:p>
        </p:txBody>
      </p:sp>
      <p:sp>
        <p:nvSpPr>
          <p:cNvPr id="66" name="Text 64"/>
          <p:cNvSpPr/>
          <p:nvPr/>
        </p:nvSpPr>
        <p:spPr>
          <a:xfrm>
            <a:off x="10265014" y="5675213"/>
            <a:ext cx="1652348" cy="272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High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52351"/>
            <a:ext cx="10795524" cy="333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Research Gaps Identified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698086" y="1015008"/>
            <a:ext cx="255184" cy="255191"/>
          </a:xfrm>
          <a:prstGeom prst="roundRect">
            <a:avLst>
              <a:gd name="adj" fmla="val 6669"/>
            </a:avLst>
          </a:prstGeom>
          <a:solidFill>
            <a:srgbClr val="304755"/>
          </a:solidFill>
          <a:ln/>
        </p:spPr>
      </p:sp>
      <p:sp>
        <p:nvSpPr>
          <p:cNvPr id="4" name="Text 2"/>
          <p:cNvSpPr/>
          <p:nvPr/>
        </p:nvSpPr>
        <p:spPr>
          <a:xfrm>
            <a:off x="745610" y="1042541"/>
            <a:ext cx="160135" cy="2001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017760" y="1054001"/>
            <a:ext cx="10475849" cy="166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G1 — Fragmented Functionality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017760" y="1259483"/>
            <a:ext cx="10475849" cy="142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Existing solutions often focus on documentation, tutoring, or command assistance in isolation rather than providing an integrated student toolkit.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98086" y="1530747"/>
            <a:ext cx="255184" cy="255191"/>
          </a:xfrm>
          <a:prstGeom prst="roundRect">
            <a:avLst>
              <a:gd name="adj" fmla="val 6669"/>
            </a:avLst>
          </a:prstGeom>
          <a:solidFill>
            <a:srgbClr val="304755"/>
          </a:solidFill>
          <a:ln/>
        </p:spPr>
      </p:sp>
      <p:sp>
        <p:nvSpPr>
          <p:cNvPr id="8" name="Text 6"/>
          <p:cNvSpPr/>
          <p:nvPr/>
        </p:nvSpPr>
        <p:spPr>
          <a:xfrm>
            <a:off x="745610" y="1558280"/>
            <a:ext cx="160135" cy="2001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2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17760" y="1569740"/>
            <a:ext cx="10475849" cy="166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G2 — Learning vs. Practical Usage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17760" y="1775222"/>
            <a:ext cx="10475849" cy="142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Learning commands and performing everyday Linux tasks are not consistently addressed together in a single environment.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98086" y="2046486"/>
            <a:ext cx="255184" cy="255191"/>
          </a:xfrm>
          <a:prstGeom prst="roundRect">
            <a:avLst>
              <a:gd name="adj" fmla="val 6669"/>
            </a:avLst>
          </a:prstGeom>
          <a:solidFill>
            <a:srgbClr val="304755"/>
          </a:solidFill>
          <a:ln/>
        </p:spPr>
      </p:sp>
      <p:sp>
        <p:nvSpPr>
          <p:cNvPr id="12" name="Text 10"/>
          <p:cNvSpPr/>
          <p:nvPr/>
        </p:nvSpPr>
        <p:spPr>
          <a:xfrm>
            <a:off x="745610" y="2074019"/>
            <a:ext cx="160135" cy="2001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3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017760" y="2085479"/>
            <a:ext cx="10475849" cy="166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G3 — Command Memorization Burden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017760" y="2290961"/>
            <a:ext cx="10475849" cy="142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Traditional CLI interaction requires users to recall commands, syntax, and options from memory, increasing cognitive load.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98086" y="2562225"/>
            <a:ext cx="255184" cy="255191"/>
          </a:xfrm>
          <a:prstGeom prst="roundRect">
            <a:avLst>
              <a:gd name="adj" fmla="val 6669"/>
            </a:avLst>
          </a:prstGeom>
          <a:solidFill>
            <a:srgbClr val="304755"/>
          </a:solidFill>
          <a:ln/>
        </p:spPr>
      </p:sp>
      <p:sp>
        <p:nvSpPr>
          <p:cNvPr id="16" name="Text 14"/>
          <p:cNvSpPr/>
          <p:nvPr/>
        </p:nvSpPr>
        <p:spPr>
          <a:xfrm>
            <a:off x="745610" y="2589758"/>
            <a:ext cx="160135" cy="2001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4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017760" y="2601218"/>
            <a:ext cx="10475849" cy="166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G4 — Limited OS/C Concept Connection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017760" y="2806700"/>
            <a:ext cx="10475849" cy="142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An opportunity exists to connect common Linux operations with concepts such as file I/O, processes, and system-level operations.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98086" y="3077964"/>
            <a:ext cx="255184" cy="255191"/>
          </a:xfrm>
          <a:prstGeom prst="roundRect">
            <a:avLst>
              <a:gd name="adj" fmla="val 6669"/>
            </a:avLst>
          </a:prstGeom>
          <a:solidFill>
            <a:srgbClr val="304755"/>
          </a:solidFill>
          <a:ln/>
        </p:spPr>
      </p:sp>
      <p:sp>
        <p:nvSpPr>
          <p:cNvPr id="20" name="Text 18"/>
          <p:cNvSpPr/>
          <p:nvPr/>
        </p:nvSpPr>
        <p:spPr>
          <a:xfrm>
            <a:off x="745610" y="3105497"/>
            <a:ext cx="160135" cy="2001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5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017760" y="3116957"/>
            <a:ext cx="10475849" cy="166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G5 — Lack of Student-Oriented Integration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017760" y="3322439"/>
            <a:ext cx="10475849" cy="142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There is an opportunity for a lightweight toolkit focused specifically on common student Linux tasks in one place.</a:t>
            </a:r>
            <a:endParaRPr lang="en-US" sz="850" dirty="0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7263" y="3537248"/>
            <a:ext cx="7017071" cy="2768302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3678864" y="4495990"/>
            <a:ext cx="1395911" cy="178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Existing Work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3678864" y="4728648"/>
            <a:ext cx="1395911" cy="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2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Documentation, tutoring, command assistance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5414309" y="4697099"/>
            <a:ext cx="1395911" cy="3572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Existing Limitations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5414309" y="5108392"/>
            <a:ext cx="1395911" cy="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2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Fragmented functionality; siloed tools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7170012" y="4495990"/>
            <a:ext cx="1395911" cy="3572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Unaddressed Opportunity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7170012" y="4907283"/>
            <a:ext cx="1395911" cy="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2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Integrated student toolkit for practical use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87685"/>
            <a:ext cx="10795524" cy="440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From Research Gap to Proposed ShellX Direction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698086" y="1422202"/>
            <a:ext cx="3541227" cy="4621808"/>
          </a:xfrm>
          <a:prstGeom prst="roundRect">
            <a:avLst>
              <a:gd name="adj" fmla="val 634"/>
            </a:avLst>
          </a:prstGeom>
          <a:solidFill>
            <a:srgbClr val="304755"/>
          </a:solidFill>
          <a:ln/>
        </p:spPr>
      </p:sp>
      <p:sp>
        <p:nvSpPr>
          <p:cNvPr id="4" name="Shape 2"/>
          <p:cNvSpPr/>
          <p:nvPr/>
        </p:nvSpPr>
        <p:spPr>
          <a:xfrm>
            <a:off x="698086" y="1422202"/>
            <a:ext cx="3541227" cy="840581"/>
          </a:xfrm>
          <a:custGeom>
            <a:avLst/>
            <a:gdLst/>
            <a:ahLst/>
            <a:cxnLst/>
            <a:rect l="l" t="t" r="r" b="b"/>
            <a:pathLst>
              <a:path w="3541227" h="840581">
                <a:moveTo>
                  <a:pt x="18701" y="0"/>
                </a:moveTo>
                <a:lnTo>
                  <a:pt x="3522526" y="0"/>
                </a:lnTo>
                <a:arcTo wR="18701" hR="18702" stAng="16200000" swAng="5400000"/>
                <a:lnTo>
                  <a:pt x="3541227" y="840581"/>
                </a:lnTo>
                <a:lnTo>
                  <a:pt x="0" y="840581"/>
                </a:lnTo>
                <a:lnTo>
                  <a:pt x="0" y="18702"/>
                </a:lnTo>
                <a:arcTo wR="18701" hR="18702" stAng="10800000" swAng="5400000"/>
                <a:close/>
              </a:path>
            </a:pathLst>
          </a:custGeom>
          <a:solidFill>
            <a:srgbClr val="304755"/>
          </a:solidFill>
          <a:ln/>
        </p:spPr>
      </p:sp>
      <p:sp>
        <p:nvSpPr>
          <p:cNvPr id="5" name="Text 3"/>
          <p:cNvSpPr/>
          <p:nvPr/>
        </p:nvSpPr>
        <p:spPr>
          <a:xfrm>
            <a:off x="847605" y="1571724"/>
            <a:ext cx="324218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CLI Difficulty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47605" y="1903809"/>
            <a:ext cx="3242189" cy="209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→ Menu-driven interaction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98086" y="2262783"/>
            <a:ext cx="3541227" cy="840581"/>
          </a:xfrm>
          <a:prstGeom prst="rect">
            <a:avLst/>
          </a:prstGeom>
          <a:solidFill>
            <a:srgbClr val="304755"/>
          </a:solidFill>
          <a:ln/>
        </p:spPr>
      </p:sp>
      <p:sp>
        <p:nvSpPr>
          <p:cNvPr id="8" name="Shape 6"/>
          <p:cNvSpPr/>
          <p:nvPr/>
        </p:nvSpPr>
        <p:spPr>
          <a:xfrm>
            <a:off x="698086" y="2262783"/>
            <a:ext cx="3541227" cy="19050"/>
          </a:xfrm>
          <a:prstGeom prst="roundRect">
            <a:avLst>
              <a:gd name="adj" fmla="val 49999"/>
            </a:avLst>
          </a:prstGeom>
          <a:solidFill>
            <a:srgbClr val="49606E"/>
          </a:solidFill>
          <a:ln/>
        </p:spPr>
      </p:sp>
      <p:sp>
        <p:nvSpPr>
          <p:cNvPr id="9" name="Text 7"/>
          <p:cNvSpPr/>
          <p:nvPr/>
        </p:nvSpPr>
        <p:spPr>
          <a:xfrm>
            <a:off x="847605" y="2412305"/>
            <a:ext cx="324218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Command Memorization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47605" y="2744391"/>
            <a:ext cx="3242189" cy="209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→ Guided options + command help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98086" y="3103364"/>
            <a:ext cx="3541227" cy="840581"/>
          </a:xfrm>
          <a:prstGeom prst="rect">
            <a:avLst/>
          </a:prstGeom>
          <a:solidFill>
            <a:srgbClr val="304755"/>
          </a:solidFill>
          <a:ln/>
        </p:spPr>
      </p:sp>
      <p:sp>
        <p:nvSpPr>
          <p:cNvPr id="12" name="Shape 10"/>
          <p:cNvSpPr/>
          <p:nvPr/>
        </p:nvSpPr>
        <p:spPr>
          <a:xfrm>
            <a:off x="698086" y="3103364"/>
            <a:ext cx="3541227" cy="19050"/>
          </a:xfrm>
          <a:prstGeom prst="roundRect">
            <a:avLst>
              <a:gd name="adj" fmla="val 49999"/>
            </a:avLst>
          </a:prstGeom>
          <a:solidFill>
            <a:srgbClr val="49606E"/>
          </a:solidFill>
          <a:ln/>
        </p:spPr>
      </p:sp>
      <p:sp>
        <p:nvSpPr>
          <p:cNvPr id="13" name="Text 11"/>
          <p:cNvSpPr/>
          <p:nvPr/>
        </p:nvSpPr>
        <p:spPr>
          <a:xfrm>
            <a:off x="847605" y="3252887"/>
            <a:ext cx="324218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Fragmented Utilities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47605" y="3584972"/>
            <a:ext cx="3242189" cy="209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→ Single integrated toolkit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98086" y="3943945"/>
            <a:ext cx="3541227" cy="1050032"/>
          </a:xfrm>
          <a:prstGeom prst="rect">
            <a:avLst/>
          </a:prstGeom>
          <a:solidFill>
            <a:srgbClr val="304755"/>
          </a:solidFill>
          <a:ln/>
        </p:spPr>
      </p:sp>
      <p:sp>
        <p:nvSpPr>
          <p:cNvPr id="16" name="Shape 14"/>
          <p:cNvSpPr/>
          <p:nvPr/>
        </p:nvSpPr>
        <p:spPr>
          <a:xfrm>
            <a:off x="698086" y="3943945"/>
            <a:ext cx="3541227" cy="19050"/>
          </a:xfrm>
          <a:prstGeom prst="roundRect">
            <a:avLst>
              <a:gd name="adj" fmla="val 49999"/>
            </a:avLst>
          </a:prstGeom>
          <a:solidFill>
            <a:srgbClr val="49606E"/>
          </a:solidFill>
          <a:ln/>
        </p:spPr>
      </p:sp>
      <p:sp>
        <p:nvSpPr>
          <p:cNvPr id="17" name="Text 15"/>
          <p:cNvSpPr/>
          <p:nvPr/>
        </p:nvSpPr>
        <p:spPr>
          <a:xfrm>
            <a:off x="847605" y="4093468"/>
            <a:ext cx="324218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Learning vs. Practical Use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47605" y="4425553"/>
            <a:ext cx="3242189" cy="418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→ Learn while performing common Linux operations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98086" y="4993977"/>
            <a:ext cx="3541227" cy="1050032"/>
          </a:xfrm>
          <a:custGeom>
            <a:avLst/>
            <a:gdLst/>
            <a:ahLst/>
            <a:cxnLst/>
            <a:rect l="l" t="t" r="r" b="b"/>
            <a:pathLst>
              <a:path w="3541227" h="1050032">
                <a:moveTo>
                  <a:pt x="0" y="0"/>
                </a:moveTo>
                <a:lnTo>
                  <a:pt x="3541227" y="0"/>
                </a:lnTo>
                <a:lnTo>
                  <a:pt x="3541227" y="1031330"/>
                </a:lnTo>
                <a:arcTo wR="18701" hR="18702" stAng="0" swAng="5400000"/>
                <a:lnTo>
                  <a:pt x="18701" y="1050032"/>
                </a:lnTo>
                <a:arcTo wR="18701" hR="18702" stAng="5400000" swAng="5400000"/>
                <a:lnTo>
                  <a:pt x="0" y="0"/>
                </a:lnTo>
                <a:close/>
              </a:path>
            </a:pathLst>
          </a:custGeom>
          <a:solidFill>
            <a:srgbClr val="304755"/>
          </a:solidFill>
          <a:ln/>
        </p:spPr>
      </p:sp>
      <p:sp>
        <p:nvSpPr>
          <p:cNvPr id="20" name="Shape 18"/>
          <p:cNvSpPr/>
          <p:nvPr/>
        </p:nvSpPr>
        <p:spPr>
          <a:xfrm>
            <a:off x="698086" y="4993977"/>
            <a:ext cx="3541227" cy="19050"/>
          </a:xfrm>
          <a:prstGeom prst="roundRect">
            <a:avLst>
              <a:gd name="adj" fmla="val 49999"/>
            </a:avLst>
          </a:prstGeom>
          <a:solidFill>
            <a:srgbClr val="49606E"/>
          </a:solidFill>
          <a:ln/>
        </p:spPr>
      </p:sp>
      <p:sp>
        <p:nvSpPr>
          <p:cNvPr id="21" name="Text 19"/>
          <p:cNvSpPr/>
          <p:nvPr/>
        </p:nvSpPr>
        <p:spPr>
          <a:xfrm>
            <a:off x="847605" y="5143500"/>
            <a:ext cx="324218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Weak OS/C Connection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47605" y="5475585"/>
            <a:ext cx="3242189" cy="418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→ Connect user operations with Linux and C/OS concepts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610580" y="2277467"/>
            <a:ext cx="6889280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Proposed Interaction Flow</a:t>
            </a:r>
            <a:endParaRPr lang="en-US" sz="1350" dirty="0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1777" y="2623641"/>
            <a:ext cx="5166886" cy="1938834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9646516" y="4096226"/>
            <a:ext cx="779294" cy="141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Result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8664392" y="3955025"/>
            <a:ext cx="779294" cy="4236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Linux / C Mechanism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687607" y="4025667"/>
            <a:ext cx="779294" cy="2824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Guided Operation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6710821" y="4025667"/>
            <a:ext cx="779294" cy="2824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ShellX Menu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5712685" y="4096226"/>
            <a:ext cx="779294" cy="141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Student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4610580" y="4688681"/>
            <a:ext cx="6889280" cy="485874"/>
          </a:xfrm>
          <a:prstGeom prst="roundRect">
            <a:avLst>
              <a:gd name="adj" fmla="val 4619"/>
            </a:avLst>
          </a:prstGeom>
          <a:solidFill>
            <a:srgbClr val="08786D"/>
          </a:solidFill>
          <a:ln/>
        </p:spPr>
      </p:sp>
      <p:pic>
        <p:nvPicPr>
          <p:cNvPr id="3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0099" y="4859635"/>
            <a:ext cx="186923" cy="149523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5096541" y="4826893"/>
            <a:ext cx="6863385" cy="209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ShellX is a proposed direction; implementation is not presented as complete.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27856"/>
            <a:ext cx="10795524" cy="498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Proposed ShellX Scope</a:t>
            </a:r>
            <a:endParaRPr lang="en-US" sz="31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698086" y="1414760"/>
            <a:ext cx="339022" cy="3390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8086" y="1933873"/>
            <a:ext cx="3478423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File Manager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698086" y="2269629"/>
            <a:ext cx="3478423" cy="501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Create, delete, rename, copy, move and manage files through a guided interface.</a:t>
            </a:r>
            <a:endParaRPr lang="en-US" sz="13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4356586" y="1414760"/>
            <a:ext cx="339022" cy="33903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56586" y="1933873"/>
            <a:ext cx="3478423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Command Runner</a:t>
            </a: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4356586" y="2269629"/>
            <a:ext cx="3478423" cy="501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Execute selected Linux commands through a guided, menu-driven interface.</a:t>
            </a:r>
            <a:endParaRPr lang="en-US" sz="13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8015087" y="1414760"/>
            <a:ext cx="339022" cy="33903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15087" y="1933873"/>
            <a:ext cx="3478423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Notes Manager</a:t>
            </a:r>
            <a:endParaRPr lang="en-US" sz="1550" dirty="0"/>
          </a:p>
        </p:txBody>
      </p:sp>
      <p:sp>
        <p:nvSpPr>
          <p:cNvPr id="11" name="Text 6"/>
          <p:cNvSpPr/>
          <p:nvPr/>
        </p:nvSpPr>
        <p:spPr>
          <a:xfrm>
            <a:off x="8015087" y="2269629"/>
            <a:ext cx="3478423" cy="501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Create and manage notes using file I/O operations.</a:t>
            </a:r>
            <a:endParaRPr lang="en-US" sz="13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698086" y="3059708"/>
            <a:ext cx="339022" cy="33903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98086" y="3578820"/>
            <a:ext cx="3478423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Calculator</a:t>
            </a:r>
            <a:endParaRPr lang="en-US" sz="1550" dirty="0"/>
          </a:p>
        </p:txBody>
      </p:sp>
      <p:sp>
        <p:nvSpPr>
          <p:cNvPr id="14" name="Text 8"/>
          <p:cNvSpPr/>
          <p:nvPr/>
        </p:nvSpPr>
        <p:spPr>
          <a:xfrm>
            <a:off x="698086" y="3914577"/>
            <a:ext cx="3478423" cy="501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Basic arithmetic functionality for quick student use.</a:t>
            </a:r>
            <a:endParaRPr lang="en-US" sz="13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p:blipFill>
        <p:spPr>
          <a:xfrm>
            <a:off x="4356586" y="3059708"/>
            <a:ext cx="339022" cy="33903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356586" y="3578820"/>
            <a:ext cx="3478423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System Information</a:t>
            </a:r>
            <a:endParaRPr lang="en-US" sz="1550" dirty="0"/>
          </a:p>
        </p:txBody>
      </p:sp>
      <p:sp>
        <p:nvSpPr>
          <p:cNvPr id="17" name="Text 10"/>
          <p:cNvSpPr/>
          <p:nvPr/>
        </p:nvSpPr>
        <p:spPr>
          <a:xfrm>
            <a:off x="4356586" y="3914577"/>
            <a:ext cx="3478423" cy="501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Display useful system, user, and environment information.</a:t>
            </a:r>
            <a:endParaRPr lang="en-US" sz="13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xmlns="" r:embed="rId14"/>
              </a:ext>
            </a:extLst>
          </a:blip>
          <a:stretch>
            <a:fillRect/>
          </a:stretch>
        </p:blipFill>
        <p:spPr>
          <a:xfrm>
            <a:off x="8015087" y="3059708"/>
            <a:ext cx="339022" cy="33903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8015087" y="3578820"/>
            <a:ext cx="3478423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Help Guide</a:t>
            </a:r>
            <a:endParaRPr lang="en-US" sz="1550" dirty="0"/>
          </a:p>
        </p:txBody>
      </p:sp>
      <p:sp>
        <p:nvSpPr>
          <p:cNvPr id="20" name="Text 12"/>
          <p:cNvSpPr/>
          <p:nvPr/>
        </p:nvSpPr>
        <p:spPr>
          <a:xfrm>
            <a:off x="8015087" y="3914577"/>
            <a:ext cx="3478423" cy="501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Beginner-friendly Linux command reference built in.</a:t>
            </a:r>
            <a:endParaRPr lang="en-US" sz="130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xmlns="" r:embed="rId16"/>
              </a:ext>
            </a:extLst>
          </a:blip>
          <a:stretch>
            <a:fillRect/>
          </a:stretch>
        </p:blipFill>
        <p:spPr>
          <a:xfrm>
            <a:off x="698086" y="4704655"/>
            <a:ext cx="339022" cy="33903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698086" y="5223768"/>
            <a:ext cx="3478423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Student Utilities</a:t>
            </a:r>
            <a:endParaRPr lang="en-US" sz="1550" dirty="0"/>
          </a:p>
        </p:txBody>
      </p:sp>
      <p:sp>
        <p:nvSpPr>
          <p:cNvPr id="23" name="Text 14"/>
          <p:cNvSpPr/>
          <p:nvPr/>
        </p:nvSpPr>
        <p:spPr>
          <a:xfrm>
            <a:off x="698086" y="5559524"/>
            <a:ext cx="3478423" cy="250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Lightweight utilities such as clock and calendar.</a:t>
            </a:r>
            <a:endParaRPr lang="en-US" sz="1300" dirty="0"/>
          </a:p>
        </p:txBody>
      </p:sp>
      <p:sp>
        <p:nvSpPr>
          <p:cNvPr id="24" name="Shape 15"/>
          <p:cNvSpPr/>
          <p:nvPr/>
        </p:nvSpPr>
        <p:spPr>
          <a:xfrm>
            <a:off x="698086" y="5972572"/>
            <a:ext cx="5568910" cy="257572"/>
          </a:xfrm>
          <a:prstGeom prst="roundRect">
            <a:avLst>
              <a:gd name="adj" fmla="val 7899"/>
            </a:avLst>
          </a:prstGeom>
          <a:solidFill>
            <a:srgbClr val="054842"/>
          </a:solidFill>
          <a:ln/>
        </p:spPr>
      </p:sp>
      <p:pic>
        <p:nvPicPr>
          <p:cNvPr id="25" name="Image 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99782" y="6033492"/>
            <a:ext cx="135629" cy="135632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1003176" y="6023372"/>
            <a:ext cx="5771708" cy="155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PROPOSED TECHNICAL DIRECTION: C · UBUNTU/LINUX · GCC · MAKEFILE · GIT/GITHUB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66142"/>
            <a:ext cx="10795524" cy="309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Expected Contribution &amp; Next Stage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698086" y="1014909"/>
            <a:ext cx="5269277" cy="154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Expected Contribution</a:t>
            </a:r>
            <a:endParaRPr lang="en-US" sz="9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698086" y="1232297"/>
            <a:ext cx="2606808" cy="85883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6853" y="1350268"/>
            <a:ext cx="2320073" cy="309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Beginner-Friendly Linux Interaction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866853" y="1715591"/>
            <a:ext cx="2320073" cy="2575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8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Guided menus reduce the initial CLI learning barrier for students.</a:t>
            </a:r>
            <a:endParaRPr lang="en-US" sz="8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3360455" y="1232297"/>
            <a:ext cx="2606907" cy="85883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529222" y="1350268"/>
            <a:ext cx="2320172" cy="309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Guided Exposure to Linux Commands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3529222" y="1715591"/>
            <a:ext cx="2320172" cy="2575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8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Users learn commands in context while performing real operations.</a:t>
            </a:r>
            <a:endParaRPr lang="en-US" sz="8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698086" y="2146697"/>
            <a:ext cx="2606808" cy="85883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66853" y="2264668"/>
            <a:ext cx="2320073" cy="309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Integration of Common Student Utilities</a:t>
            </a:r>
            <a:endParaRPr lang="en-US" sz="950" dirty="0"/>
          </a:p>
        </p:txBody>
      </p:sp>
      <p:sp>
        <p:nvSpPr>
          <p:cNvPr id="12" name="Text 7"/>
          <p:cNvSpPr/>
          <p:nvPr/>
        </p:nvSpPr>
        <p:spPr>
          <a:xfrm>
            <a:off x="866853" y="2629991"/>
            <a:ext cx="2320073" cy="2575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8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 single toolkit covering the most frequent student Linux tasks.</a:t>
            </a:r>
            <a:endParaRPr lang="en-US" sz="8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3360455" y="2146697"/>
            <a:ext cx="2606907" cy="85883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3529222" y="2264668"/>
            <a:ext cx="2320172" cy="309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Practical Application of C &amp; OS Concepts</a:t>
            </a:r>
            <a:endParaRPr lang="en-US" sz="950" dirty="0"/>
          </a:p>
        </p:txBody>
      </p:sp>
      <p:sp>
        <p:nvSpPr>
          <p:cNvPr id="15" name="Text 9"/>
          <p:cNvSpPr/>
          <p:nvPr/>
        </p:nvSpPr>
        <p:spPr>
          <a:xfrm>
            <a:off x="3529222" y="2629991"/>
            <a:ext cx="2320172" cy="2575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8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Connects everyday operations with file I/O, processes, and system calls.</a:t>
            </a:r>
            <a:endParaRPr lang="en-US" sz="8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698086" y="3061097"/>
            <a:ext cx="2606808" cy="703957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866853" y="3179068"/>
            <a:ext cx="2320073" cy="154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Lightweight Modular Design</a:t>
            </a:r>
            <a:endParaRPr lang="en-US" sz="950" dirty="0"/>
          </a:p>
        </p:txBody>
      </p:sp>
      <p:sp>
        <p:nvSpPr>
          <p:cNvPr id="18" name="Text 11"/>
          <p:cNvSpPr/>
          <p:nvPr/>
        </p:nvSpPr>
        <p:spPr>
          <a:xfrm>
            <a:off x="866853" y="3389511"/>
            <a:ext cx="2320073" cy="2575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8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Each module is independently scoped for maintainability and extensibility.</a:t>
            </a:r>
            <a:endParaRPr lang="en-US" sz="800" dirty="0"/>
          </a:p>
        </p:txBody>
      </p:sp>
      <p:sp>
        <p:nvSpPr>
          <p:cNvPr id="19" name="Text 12"/>
          <p:cNvSpPr/>
          <p:nvPr/>
        </p:nvSpPr>
        <p:spPr>
          <a:xfrm>
            <a:off x="6230682" y="1014909"/>
            <a:ext cx="5269277" cy="154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Project Review Timeline</a:t>
            </a:r>
            <a:endParaRPr lang="en-US" sz="950" dirty="0"/>
          </a:p>
        </p:txBody>
      </p:sp>
      <p:sp>
        <p:nvSpPr>
          <p:cNvPr id="20" name="Text 13"/>
          <p:cNvSpPr/>
          <p:nvPr/>
        </p:nvSpPr>
        <p:spPr>
          <a:xfrm>
            <a:off x="6388635" y="1282303"/>
            <a:ext cx="5720909" cy="128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8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"The identified research gap will guide the methodology and system design developed in the next stage."</a:t>
            </a:r>
            <a:endParaRPr lang="en-US" sz="800" dirty="0"/>
          </a:p>
        </p:txBody>
      </p:sp>
      <p:sp>
        <p:nvSpPr>
          <p:cNvPr id="21" name="Shape 14"/>
          <p:cNvSpPr/>
          <p:nvPr/>
        </p:nvSpPr>
        <p:spPr>
          <a:xfrm>
            <a:off x="6230682" y="1232297"/>
            <a:ext cx="12700" cy="228798"/>
          </a:xfrm>
          <a:prstGeom prst="roundRect">
            <a:avLst>
              <a:gd name="adj" fmla="val 49999"/>
            </a:avLst>
          </a:prstGeom>
          <a:solidFill>
            <a:srgbClr val="0A988B"/>
          </a:solidFill>
          <a:ln/>
        </p:spPr>
      </p:sp>
      <p:sp>
        <p:nvSpPr>
          <p:cNvPr id="22" name="Shape 15"/>
          <p:cNvSpPr/>
          <p:nvPr/>
        </p:nvSpPr>
        <p:spPr>
          <a:xfrm>
            <a:off x="6089498" y="3890070"/>
            <a:ext cx="12700" cy="2401788"/>
          </a:xfrm>
          <a:prstGeom prst="roundRect">
            <a:avLst>
              <a:gd name="adj" fmla="val 49999"/>
            </a:avLst>
          </a:prstGeom>
          <a:solidFill>
            <a:srgbClr val="49606E"/>
          </a:solidFill>
          <a:ln/>
        </p:spPr>
      </p:sp>
      <p:sp>
        <p:nvSpPr>
          <p:cNvPr id="23" name="Shape 16"/>
          <p:cNvSpPr/>
          <p:nvPr/>
        </p:nvSpPr>
        <p:spPr>
          <a:xfrm>
            <a:off x="5897911" y="4002187"/>
            <a:ext cx="210636" cy="12700"/>
          </a:xfrm>
          <a:prstGeom prst="roundRect">
            <a:avLst>
              <a:gd name="adj" fmla="val 49999"/>
            </a:avLst>
          </a:prstGeom>
          <a:solidFill>
            <a:srgbClr val="49606E"/>
          </a:solidFill>
          <a:ln/>
        </p:spPr>
      </p:sp>
      <p:sp>
        <p:nvSpPr>
          <p:cNvPr id="24" name="Shape 17"/>
          <p:cNvSpPr/>
          <p:nvPr/>
        </p:nvSpPr>
        <p:spPr>
          <a:xfrm>
            <a:off x="6056359" y="3969048"/>
            <a:ext cx="78976" cy="78978"/>
          </a:xfrm>
          <a:prstGeom prst="ellipse">
            <a:avLst/>
          </a:prstGeom>
          <a:solidFill>
            <a:srgbClr val="0A988B"/>
          </a:solidFill>
          <a:ln/>
        </p:spPr>
      </p:sp>
      <p:sp>
        <p:nvSpPr>
          <p:cNvPr id="25" name="Text 18"/>
          <p:cNvSpPr/>
          <p:nvPr/>
        </p:nvSpPr>
        <p:spPr>
          <a:xfrm>
            <a:off x="698086" y="3926284"/>
            <a:ext cx="4976390" cy="154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Review 1</a:t>
            </a:r>
            <a:endParaRPr lang="en-US" sz="950" dirty="0"/>
          </a:p>
        </p:txBody>
      </p:sp>
      <p:sp>
        <p:nvSpPr>
          <p:cNvPr id="26" name="Text 19"/>
          <p:cNvSpPr/>
          <p:nvPr/>
        </p:nvSpPr>
        <p:spPr>
          <a:xfrm>
            <a:off x="698086" y="4114502"/>
            <a:ext cx="4976390" cy="128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2000"/>
              </a:lnSpc>
              <a:buNone/>
            </a:pPr>
            <a:r>
              <a:rPr lang="en-US" sz="8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Project Identification</a:t>
            </a:r>
            <a:endParaRPr lang="en-US" sz="800" dirty="0"/>
          </a:p>
        </p:txBody>
      </p:sp>
      <p:sp>
        <p:nvSpPr>
          <p:cNvPr id="27" name="Shape 20"/>
          <p:cNvSpPr/>
          <p:nvPr/>
        </p:nvSpPr>
        <p:spPr>
          <a:xfrm>
            <a:off x="6083148" y="4534793"/>
            <a:ext cx="210636" cy="12700"/>
          </a:xfrm>
          <a:prstGeom prst="roundRect">
            <a:avLst>
              <a:gd name="adj" fmla="val 49999"/>
            </a:avLst>
          </a:prstGeom>
          <a:solidFill>
            <a:srgbClr val="08B9D4"/>
          </a:solidFill>
          <a:ln/>
        </p:spPr>
      </p:sp>
      <p:sp>
        <p:nvSpPr>
          <p:cNvPr id="28" name="Shape 21"/>
          <p:cNvSpPr/>
          <p:nvPr/>
        </p:nvSpPr>
        <p:spPr>
          <a:xfrm>
            <a:off x="6056359" y="4501654"/>
            <a:ext cx="78976" cy="7897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9" name="Text 22"/>
          <p:cNvSpPr/>
          <p:nvPr/>
        </p:nvSpPr>
        <p:spPr>
          <a:xfrm>
            <a:off x="6517219" y="4458891"/>
            <a:ext cx="4976390" cy="154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Review 2 — </a:t>
            </a:r>
            <a:r>
              <a:rPr lang="en-US" sz="950" dirty="0">
                <a:solidFill>
                  <a:srgbClr val="000000"/>
                </a:solidFill>
                <a:highlight>
                  <a:srgbClr val="22D3EE"/>
                </a:highlight>
                <a:latin typeface="Unbounded" pitchFamily="34" charset="0"/>
                <a:ea typeface="Unbounded" pitchFamily="34" charset="-122"/>
                <a:cs typeface="Unbounded" pitchFamily="34" charset="-120"/>
              </a:rPr>
              <a:t>CURRENT STAGE</a:t>
            </a:r>
            <a:endParaRPr lang="en-US" sz="950" dirty="0"/>
          </a:p>
        </p:txBody>
      </p:sp>
      <p:sp>
        <p:nvSpPr>
          <p:cNvPr id="30" name="Text 23"/>
          <p:cNvSpPr/>
          <p:nvPr/>
        </p:nvSpPr>
        <p:spPr>
          <a:xfrm>
            <a:off x="6517219" y="4647109"/>
            <a:ext cx="4976390" cy="128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8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Literature Review + Research Gap Analysis</a:t>
            </a:r>
            <a:endParaRPr lang="en-US" sz="800" dirty="0"/>
          </a:p>
        </p:txBody>
      </p:sp>
      <p:sp>
        <p:nvSpPr>
          <p:cNvPr id="31" name="Shape 24"/>
          <p:cNvSpPr/>
          <p:nvPr/>
        </p:nvSpPr>
        <p:spPr>
          <a:xfrm>
            <a:off x="5897911" y="5029895"/>
            <a:ext cx="210636" cy="12700"/>
          </a:xfrm>
          <a:prstGeom prst="roundRect">
            <a:avLst>
              <a:gd name="adj" fmla="val 49999"/>
            </a:avLst>
          </a:prstGeom>
          <a:solidFill>
            <a:srgbClr val="49606E"/>
          </a:solidFill>
          <a:ln/>
        </p:spPr>
      </p:sp>
      <p:sp>
        <p:nvSpPr>
          <p:cNvPr id="32" name="Shape 25"/>
          <p:cNvSpPr/>
          <p:nvPr/>
        </p:nvSpPr>
        <p:spPr>
          <a:xfrm>
            <a:off x="6056359" y="4996755"/>
            <a:ext cx="78976" cy="78978"/>
          </a:xfrm>
          <a:prstGeom prst="ellipse">
            <a:avLst/>
          </a:prstGeom>
          <a:solidFill>
            <a:srgbClr val="0A988B"/>
          </a:solidFill>
          <a:ln/>
        </p:spPr>
      </p:sp>
      <p:sp>
        <p:nvSpPr>
          <p:cNvPr id="33" name="Text 26"/>
          <p:cNvSpPr/>
          <p:nvPr/>
        </p:nvSpPr>
        <p:spPr>
          <a:xfrm>
            <a:off x="698086" y="4953992"/>
            <a:ext cx="4976390" cy="154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Review 3</a:t>
            </a:r>
            <a:endParaRPr lang="en-US" sz="950" dirty="0"/>
          </a:p>
        </p:txBody>
      </p:sp>
      <p:sp>
        <p:nvSpPr>
          <p:cNvPr id="34" name="Text 27"/>
          <p:cNvSpPr/>
          <p:nvPr/>
        </p:nvSpPr>
        <p:spPr>
          <a:xfrm>
            <a:off x="698086" y="5142210"/>
            <a:ext cx="4976390" cy="128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2000"/>
              </a:lnSpc>
              <a:buNone/>
            </a:pPr>
            <a:r>
              <a:rPr lang="en-US" sz="8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Methodology + System Design</a:t>
            </a:r>
            <a:endParaRPr lang="en-US" sz="800" dirty="0"/>
          </a:p>
        </p:txBody>
      </p:sp>
      <p:sp>
        <p:nvSpPr>
          <p:cNvPr id="35" name="Shape 28"/>
          <p:cNvSpPr/>
          <p:nvPr/>
        </p:nvSpPr>
        <p:spPr>
          <a:xfrm>
            <a:off x="6083148" y="5524996"/>
            <a:ext cx="210636" cy="12700"/>
          </a:xfrm>
          <a:prstGeom prst="roundRect">
            <a:avLst>
              <a:gd name="adj" fmla="val 49999"/>
            </a:avLst>
          </a:prstGeom>
          <a:solidFill>
            <a:srgbClr val="49606E"/>
          </a:solidFill>
          <a:ln/>
        </p:spPr>
      </p:sp>
      <p:sp>
        <p:nvSpPr>
          <p:cNvPr id="36" name="Shape 29"/>
          <p:cNvSpPr/>
          <p:nvPr/>
        </p:nvSpPr>
        <p:spPr>
          <a:xfrm>
            <a:off x="6056359" y="5491857"/>
            <a:ext cx="78976" cy="78978"/>
          </a:xfrm>
          <a:prstGeom prst="ellipse">
            <a:avLst/>
          </a:prstGeom>
          <a:solidFill>
            <a:srgbClr val="0A988B"/>
          </a:solidFill>
          <a:ln/>
        </p:spPr>
      </p:sp>
      <p:sp>
        <p:nvSpPr>
          <p:cNvPr id="37" name="Text 30"/>
          <p:cNvSpPr/>
          <p:nvPr/>
        </p:nvSpPr>
        <p:spPr>
          <a:xfrm>
            <a:off x="6517219" y="5449094"/>
            <a:ext cx="4976390" cy="154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Review 4</a:t>
            </a:r>
            <a:endParaRPr lang="en-US" sz="950" dirty="0"/>
          </a:p>
        </p:txBody>
      </p:sp>
      <p:sp>
        <p:nvSpPr>
          <p:cNvPr id="38" name="Text 31"/>
          <p:cNvSpPr/>
          <p:nvPr/>
        </p:nvSpPr>
        <p:spPr>
          <a:xfrm>
            <a:off x="6517219" y="5637312"/>
            <a:ext cx="4976390" cy="128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8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Validation + Evaluation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72889"/>
            <a:ext cx="10795524" cy="557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References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98086" y="1490266"/>
            <a:ext cx="379006" cy="2368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CAD6DE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01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98086" y="1786930"/>
            <a:ext cx="3478522" cy="25400"/>
          </a:xfrm>
          <a:prstGeom prst="rect">
            <a:avLst/>
          </a:prstGeom>
          <a:solidFill>
            <a:srgbClr val="0A988B"/>
          </a:solidFill>
          <a:ln/>
        </p:spPr>
      </p:sp>
      <p:sp>
        <p:nvSpPr>
          <p:cNvPr id="5" name="Text 3"/>
          <p:cNvSpPr/>
          <p:nvPr/>
        </p:nvSpPr>
        <p:spPr>
          <a:xfrm>
            <a:off x="698086" y="1932484"/>
            <a:ext cx="3478522" cy="14778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C. M. Lewis and W. Jamison, </a:t>
            </a:r>
            <a:r>
              <a:rPr lang="en-US" sz="1450" i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"Problem Solving in Naive Users,"</a:t>
            </a:r>
            <a:r>
              <a:rPr 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Proceedings of the Human Factors Society Annual Meeting, 1989. DOI: </a:t>
            </a:r>
            <a:r>
              <a:rPr lang="en-US" sz="1450" dirty="0">
                <a:solidFill>
                  <a:srgbClr val="CAD6DE"/>
                </a:solidFill>
                <a:highlight>
                  <a:srgbClr val="1E354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10.1177/154193128903300540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356586" y="1490266"/>
            <a:ext cx="379006" cy="2368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CAD6DE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02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356586" y="1786930"/>
            <a:ext cx="3478522" cy="25400"/>
          </a:xfrm>
          <a:prstGeom prst="rect">
            <a:avLst/>
          </a:prstGeom>
          <a:solidFill>
            <a:srgbClr val="0A988B"/>
          </a:solidFill>
          <a:ln/>
        </p:spPr>
      </p:sp>
      <p:sp>
        <p:nvSpPr>
          <p:cNvPr id="8" name="Text 6"/>
          <p:cNvSpPr/>
          <p:nvPr/>
        </p:nvSpPr>
        <p:spPr>
          <a:xfrm>
            <a:off x="4356586" y="1932484"/>
            <a:ext cx="3478522" cy="886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D. Herrera and N. Ward, </a:t>
            </a:r>
            <a:r>
              <a:rPr lang="en-US" sz="1450" i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"Training Wheels for the Command Line,"</a:t>
            </a:r>
            <a:r>
              <a:rPr 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Human-Computer Interaction International, 2005.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015087" y="1490266"/>
            <a:ext cx="379006" cy="2368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CAD6DE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03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015087" y="1786930"/>
            <a:ext cx="3478522" cy="25400"/>
          </a:xfrm>
          <a:prstGeom prst="rect">
            <a:avLst/>
          </a:prstGeom>
          <a:solidFill>
            <a:srgbClr val="0A988B"/>
          </a:solidFill>
          <a:ln/>
        </p:spPr>
      </p:sp>
      <p:sp>
        <p:nvSpPr>
          <p:cNvPr id="11" name="Text 9"/>
          <p:cNvSpPr/>
          <p:nvPr/>
        </p:nvSpPr>
        <p:spPr>
          <a:xfrm>
            <a:off x="8015087" y="1932484"/>
            <a:ext cx="3478522" cy="1773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A. G. Durham and H. H. Emurian, </a:t>
            </a:r>
            <a:r>
              <a:rPr lang="en-US" sz="1450" i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"Learning and Retention with a Menu and a Command Line Interface,"</a:t>
            </a:r>
            <a:r>
              <a:rPr 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Computers in Human Behavior, vol. 14, no. 4, pp. 597–620, 1998. DOI: </a:t>
            </a:r>
            <a:r>
              <a:rPr lang="en-US" sz="1450" dirty="0">
                <a:solidFill>
                  <a:srgbClr val="CAD6DE"/>
                </a:solidFill>
                <a:highlight>
                  <a:srgbClr val="1E354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10.1016/S0747-5632(98)00026-0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98086" y="4027984"/>
            <a:ext cx="379006" cy="2368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CAD6DE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04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98086" y="4324648"/>
            <a:ext cx="5307773" cy="25400"/>
          </a:xfrm>
          <a:prstGeom prst="rect">
            <a:avLst/>
          </a:prstGeom>
          <a:solidFill>
            <a:srgbClr val="0A988B"/>
          </a:solidFill>
          <a:ln/>
        </p:spPr>
      </p:sp>
      <p:sp>
        <p:nvSpPr>
          <p:cNvPr id="14" name="Text 12"/>
          <p:cNvSpPr/>
          <p:nvPr/>
        </p:nvSpPr>
        <p:spPr>
          <a:xfrm>
            <a:off x="698086" y="4470202"/>
            <a:ext cx="5307773" cy="11822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J. Winder, E. Falor, S. Poulsen, and J. Edwards, </a:t>
            </a:r>
            <a:r>
              <a:rPr lang="en-US" sz="1450" i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"The Shell Tutor: An Intelligent Tutoring System for the UNIX Command Shell and Git,"</a:t>
            </a:r>
            <a:r>
              <a:rPr 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Proceedings of ITiCSE 2024, pp. 548–554. DOI: </a:t>
            </a:r>
            <a:r>
              <a:rPr lang="en-US" sz="1450" dirty="0">
                <a:solidFill>
                  <a:srgbClr val="CAD6DE"/>
                </a:solidFill>
                <a:highlight>
                  <a:srgbClr val="1E354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10.1145/3649217.3653631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185837" y="4027984"/>
            <a:ext cx="379006" cy="2368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CAD6DE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05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185837" y="4324648"/>
            <a:ext cx="5307773" cy="25400"/>
          </a:xfrm>
          <a:prstGeom prst="rect">
            <a:avLst/>
          </a:prstGeom>
          <a:solidFill>
            <a:srgbClr val="0A988B"/>
          </a:solidFill>
          <a:ln/>
        </p:spPr>
      </p:sp>
      <p:sp>
        <p:nvSpPr>
          <p:cNvPr id="17" name="Text 15"/>
          <p:cNvSpPr/>
          <p:nvPr/>
        </p:nvSpPr>
        <p:spPr>
          <a:xfrm>
            <a:off x="6185837" y="4470202"/>
            <a:ext cx="5307773" cy="5911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tldr-pages, </a:t>
            </a:r>
            <a:r>
              <a:rPr lang="en-US" sz="1450" i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"Simplified and community-driven man pages,"</a:t>
            </a:r>
            <a:r>
              <a:rPr 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project documentation.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98086" y="5997079"/>
            <a:ext cx="4875487" cy="288032"/>
          </a:xfrm>
          <a:prstGeom prst="roundRect">
            <a:avLst>
              <a:gd name="adj" fmla="val 7895"/>
            </a:avLst>
          </a:prstGeom>
          <a:noFill/>
          <a:ln w="6350">
            <a:solidFill>
              <a:srgbClr val="0A988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1788" y="6053931"/>
            <a:ext cx="5257668" cy="174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0A988B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SHELLX · TEAM TECH TOGETHER · B.TECH 2ND YEAR OSSP · REVIEW 2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1249</Words>
  <Application>Microsoft Office PowerPoint</Application>
  <PresentationFormat>Widescreen</PresentationFormat>
  <Paragraphs>205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Unbounded</vt:lpstr>
      <vt:lpstr>Calibri</vt:lpstr>
      <vt:lpstr>Consolas</vt:lpstr>
      <vt:lpstr>Unbounded Light</vt:lpstr>
      <vt:lpstr>Cabin</vt:lpstr>
      <vt:lpstr>Arial</vt:lpstr>
      <vt:lpstr>Cabin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RAVI</dc:creator>
  <cp:lastModifiedBy>RAVI</cp:lastModifiedBy>
  <cp:revision>3</cp:revision>
  <dcterms:created xsi:type="dcterms:W3CDTF">2026-08-20T03:46:22Z</dcterms:created>
  <dcterms:modified xsi:type="dcterms:W3CDTF">2026-08-20T03:53:26Z</dcterms:modified>
</cp:coreProperties>
</file>