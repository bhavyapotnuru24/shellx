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13"/>
  </p:notesMasterIdLst>
  <p:sldIdLst>
    <p:sldId id="256" r:id="rId3"/>
    <p:sldId id="257" r:id="rId4"/>
    <p:sldId id="265" r:id="rId5"/>
    <p:sldId id="259" r:id="rId6"/>
    <p:sldId id="260" r:id="rId7"/>
    <p:sldId id="266" r:id="rId8"/>
    <p:sldId id="268" r:id="rId9"/>
    <p:sldId id="267" r:id="rId10"/>
    <p:sldId id="269" r:id="rId11"/>
    <p:sldId id="27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34866-DF99-4C85-B582-DF56049D5E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12845-388B-46EB-ADA8-92B074F49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758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912845-388B-46EB-ADA8-92B074F49C4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469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3A1uf1Q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://bit.ly/2TtBDfr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72360" y="1482840"/>
            <a:ext cx="7198920" cy="147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" name="Google Shape;12;p2"/>
          <p:cNvGrpSpPr/>
          <p:nvPr/>
        </p:nvGrpSpPr>
        <p:grpSpPr>
          <a:xfrm>
            <a:off x="-6840" y="1440"/>
            <a:ext cx="9163440" cy="5147280"/>
            <a:chOff x="-6840" y="1440"/>
            <a:chExt cx="9163440" cy="5147280"/>
          </a:xfrm>
        </p:grpSpPr>
        <p:grpSp>
          <p:nvGrpSpPr>
            <p:cNvPr id="5" name="Google Shape;13;p2"/>
            <p:cNvGrpSpPr/>
            <p:nvPr/>
          </p:nvGrpSpPr>
          <p:grpSpPr>
            <a:xfrm>
              <a:off x="2641320" y="4619520"/>
              <a:ext cx="6515280" cy="529200"/>
              <a:chOff x="2641320" y="4619520"/>
              <a:chExt cx="6515280" cy="529200"/>
            </a:xfrm>
          </p:grpSpPr>
          <p:pic>
            <p:nvPicPr>
              <p:cNvPr id="6" name="Google Shape;14;p2"/>
              <p:cNvPicPr/>
              <p:nvPr/>
            </p:nvPicPr>
            <p:blipFill>
              <a:blip r:embed="rId3"/>
              <a:stretch/>
            </p:blipFill>
            <p:spPr>
              <a:xfrm rot="10800000">
                <a:off x="2641320" y="4619160"/>
                <a:ext cx="6515280" cy="529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7" name="Google Shape;15;p2"/>
              <p:cNvPicPr/>
              <p:nvPr/>
            </p:nvPicPr>
            <p:blipFill>
              <a:blip r:embed="rId4"/>
              <a:stretch/>
            </p:blipFill>
            <p:spPr>
              <a:xfrm rot="10800000">
                <a:off x="7308360" y="4849560"/>
                <a:ext cx="1585080" cy="68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8" name="Google Shape;16;p2"/>
            <p:cNvGrpSpPr/>
            <p:nvPr/>
          </p:nvGrpSpPr>
          <p:grpSpPr>
            <a:xfrm>
              <a:off x="-6840" y="1440"/>
              <a:ext cx="6523200" cy="535680"/>
              <a:chOff x="-6840" y="1440"/>
              <a:chExt cx="6523200" cy="535680"/>
            </a:xfrm>
          </p:grpSpPr>
          <p:pic>
            <p:nvPicPr>
              <p:cNvPr id="9" name="Google Shape;17;p2"/>
              <p:cNvPicPr/>
              <p:nvPr/>
            </p:nvPicPr>
            <p:blipFill>
              <a:blip r:embed="rId5"/>
              <a:stretch/>
            </p:blipFill>
            <p:spPr>
              <a:xfrm>
                <a:off x="-6840" y="1440"/>
                <a:ext cx="6523200" cy="535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" name="Google Shape;18;p2"/>
              <p:cNvPicPr/>
              <p:nvPr/>
            </p:nvPicPr>
            <p:blipFill>
              <a:blip r:embed="rId4"/>
              <a:stretch/>
            </p:blipFill>
            <p:spPr>
              <a:xfrm>
                <a:off x="258480" y="248040"/>
                <a:ext cx="1585080" cy="68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11" name="Google Shape;19;p2"/>
          <p:cNvGrpSpPr/>
          <p:nvPr/>
        </p:nvGrpSpPr>
        <p:grpSpPr>
          <a:xfrm>
            <a:off x="-6840" y="-7560"/>
            <a:ext cx="9157320" cy="5158440"/>
            <a:chOff x="-6840" y="-7560"/>
            <a:chExt cx="9157320" cy="5158440"/>
          </a:xfrm>
        </p:grpSpPr>
        <p:pic>
          <p:nvPicPr>
            <p:cNvPr id="12" name="Google Shape;20;p2"/>
            <p:cNvPicPr/>
            <p:nvPr/>
          </p:nvPicPr>
          <p:blipFill>
            <a:blip r:embed="rId6"/>
            <a:stretch/>
          </p:blipFill>
          <p:spPr>
            <a:xfrm>
              <a:off x="7899120" y="-7560"/>
              <a:ext cx="1251360" cy="1251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" name="Google Shape;21;p2"/>
            <p:cNvPicPr/>
            <p:nvPr/>
          </p:nvPicPr>
          <p:blipFill>
            <a:blip r:embed="rId7"/>
            <a:stretch/>
          </p:blipFill>
          <p:spPr>
            <a:xfrm>
              <a:off x="-6840" y="3899520"/>
              <a:ext cx="1251360" cy="1251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285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13160" y="540000"/>
            <a:ext cx="4151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13160" y="539640"/>
            <a:ext cx="307224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6" name="Google Shape;289;p29"/>
          <p:cNvGrpSpPr/>
          <p:nvPr/>
        </p:nvGrpSpPr>
        <p:grpSpPr>
          <a:xfrm>
            <a:off x="-6840" y="0"/>
            <a:ext cx="9150840" cy="5153760"/>
            <a:chOff x="-6840" y="0"/>
            <a:chExt cx="9150840" cy="5153760"/>
          </a:xfrm>
        </p:grpSpPr>
        <p:grpSp>
          <p:nvGrpSpPr>
            <p:cNvPr id="37" name="Google Shape;290;p29"/>
            <p:cNvGrpSpPr/>
            <p:nvPr/>
          </p:nvGrpSpPr>
          <p:grpSpPr>
            <a:xfrm>
              <a:off x="5355000" y="0"/>
              <a:ext cx="3789000" cy="358920"/>
              <a:chOff x="5355000" y="0"/>
              <a:chExt cx="3789000" cy="358920"/>
            </a:xfrm>
          </p:grpSpPr>
          <p:pic>
            <p:nvPicPr>
              <p:cNvPr id="38" name="Google Shape;291;p29"/>
              <p:cNvPicPr/>
              <p:nvPr/>
            </p:nvPicPr>
            <p:blipFill>
              <a:blip r:embed="rId3"/>
              <a:stretch/>
            </p:blipFill>
            <p:spPr>
              <a:xfrm flipH="1">
                <a:off x="5355000" y="0"/>
                <a:ext cx="3789000" cy="358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9" name="Google Shape;292;p29"/>
              <p:cNvPicPr/>
              <p:nvPr/>
            </p:nvPicPr>
            <p:blipFill>
              <a:blip r:embed="rId4"/>
              <a:stretch/>
            </p:blipFill>
            <p:spPr>
              <a:xfrm flipH="1">
                <a:off x="7293960" y="145080"/>
                <a:ext cx="1585080" cy="68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0" name="Google Shape;293;p29"/>
            <p:cNvGrpSpPr/>
            <p:nvPr/>
          </p:nvGrpSpPr>
          <p:grpSpPr>
            <a:xfrm>
              <a:off x="-6840" y="4766040"/>
              <a:ext cx="3785400" cy="387720"/>
              <a:chOff x="-6840" y="4766040"/>
              <a:chExt cx="3785400" cy="387720"/>
            </a:xfrm>
          </p:grpSpPr>
          <p:pic>
            <p:nvPicPr>
              <p:cNvPr id="41" name="Google Shape;294;p29"/>
              <p:cNvPicPr/>
              <p:nvPr/>
            </p:nvPicPr>
            <p:blipFill>
              <a:blip r:embed="rId5"/>
              <a:stretch/>
            </p:blipFill>
            <p:spPr>
              <a:xfrm rot="10800000" flipH="1">
                <a:off x="-6840" y="4766040"/>
                <a:ext cx="3785400" cy="387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2" name="Google Shape;295;p29"/>
              <p:cNvPicPr/>
              <p:nvPr/>
            </p:nvPicPr>
            <p:blipFill>
              <a:blip r:embed="rId4"/>
              <a:stretch/>
            </p:blipFill>
            <p:spPr>
              <a:xfrm rot="10800000" flipH="1">
                <a:off x="256680" y="4925520"/>
                <a:ext cx="1585080" cy="68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43" name="Google Shape;296;p29"/>
          <p:cNvGrpSpPr/>
          <p:nvPr/>
        </p:nvGrpSpPr>
        <p:grpSpPr>
          <a:xfrm>
            <a:off x="360" y="-11520"/>
            <a:ext cx="9143640" cy="5154480"/>
            <a:chOff x="360" y="-11520"/>
            <a:chExt cx="9143640" cy="5154480"/>
          </a:xfrm>
        </p:grpSpPr>
        <p:pic>
          <p:nvPicPr>
            <p:cNvPr id="44" name="Google Shape;297;p29"/>
            <p:cNvPicPr/>
            <p:nvPr/>
          </p:nvPicPr>
          <p:blipFill>
            <a:blip r:embed="rId6"/>
            <a:stretch/>
          </p:blipFill>
          <p:spPr>
            <a:xfrm flipH="1">
              <a:off x="360" y="-1152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5" name="Google Shape;298;p29"/>
            <p:cNvPicPr/>
            <p:nvPr/>
          </p:nvPicPr>
          <p:blipFill>
            <a:blip r:embed="rId7"/>
            <a:stretch/>
          </p:blipFill>
          <p:spPr>
            <a:xfrm flipH="1">
              <a:off x="8171640" y="417060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6" name="Google Shape;299;p29"/>
          <p:cNvSpPr/>
          <p:nvPr/>
        </p:nvSpPr>
        <p:spPr>
          <a:xfrm>
            <a:off x="713160" y="3542400"/>
            <a:ext cx="3425040" cy="64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Poppins"/>
                <a:ea typeface="Poppins"/>
                <a:hlinkClick r:id="rId8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9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63;p1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7" name="Google Shape;165;p18"/>
          <p:cNvGrpSpPr/>
          <p:nvPr/>
        </p:nvGrpSpPr>
        <p:grpSpPr>
          <a:xfrm>
            <a:off x="2620800" y="0"/>
            <a:ext cx="6523200" cy="369720"/>
            <a:chOff x="2620800" y="0"/>
            <a:chExt cx="6523200" cy="369720"/>
          </a:xfrm>
        </p:grpSpPr>
        <p:pic>
          <p:nvPicPr>
            <p:cNvPr id="18" name="Google Shape;166;p18"/>
            <p:cNvPicPr/>
            <p:nvPr/>
          </p:nvPicPr>
          <p:blipFill>
            <a:blip r:embed="rId3"/>
            <a:stretch/>
          </p:blipFill>
          <p:spPr>
            <a:xfrm flipH="1">
              <a:off x="2620800" y="0"/>
              <a:ext cx="6523200" cy="369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" name="Google Shape;167;p18"/>
            <p:cNvPicPr/>
            <p:nvPr/>
          </p:nvPicPr>
          <p:blipFill>
            <a:blip r:embed="rId4"/>
            <a:stretch/>
          </p:blipFill>
          <p:spPr>
            <a:xfrm flipH="1">
              <a:off x="7293960" y="150480"/>
              <a:ext cx="1585080" cy="68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" name="Google Shape;168;p18"/>
          <p:cNvGrpSpPr/>
          <p:nvPr/>
        </p:nvGrpSpPr>
        <p:grpSpPr>
          <a:xfrm>
            <a:off x="360" y="0"/>
            <a:ext cx="9143640" cy="5142960"/>
            <a:chOff x="360" y="0"/>
            <a:chExt cx="9143640" cy="5142960"/>
          </a:xfrm>
        </p:grpSpPr>
        <p:pic>
          <p:nvPicPr>
            <p:cNvPr id="21" name="Google Shape;169;p18"/>
            <p:cNvPicPr/>
            <p:nvPr/>
          </p:nvPicPr>
          <p:blipFill>
            <a:blip r:embed="rId5"/>
            <a:stretch/>
          </p:blipFill>
          <p:spPr>
            <a:xfrm flipH="1">
              <a:off x="360" y="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" name="Google Shape;170;p18"/>
            <p:cNvPicPr/>
            <p:nvPr/>
          </p:nvPicPr>
          <p:blipFill>
            <a:blip r:embed="rId6"/>
            <a:stretch/>
          </p:blipFill>
          <p:spPr>
            <a:xfrm flipH="1">
              <a:off x="8171640" y="417060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145600" y="2102040"/>
            <a:ext cx="4852440" cy="176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37;p23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6" name="Google Shape;239;p23"/>
          <p:cNvGrpSpPr/>
          <p:nvPr/>
        </p:nvGrpSpPr>
        <p:grpSpPr>
          <a:xfrm>
            <a:off x="0" y="0"/>
            <a:ext cx="6523200" cy="369720"/>
            <a:chOff x="0" y="0"/>
            <a:chExt cx="6523200" cy="369720"/>
          </a:xfrm>
        </p:grpSpPr>
        <p:pic>
          <p:nvPicPr>
            <p:cNvPr id="27" name="Google Shape;240;p23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6523200" cy="369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" name="Google Shape;241;p23"/>
            <p:cNvPicPr/>
            <p:nvPr/>
          </p:nvPicPr>
          <p:blipFill>
            <a:blip r:embed="rId4"/>
            <a:stretch/>
          </p:blipFill>
          <p:spPr>
            <a:xfrm>
              <a:off x="264960" y="150480"/>
              <a:ext cx="1585080" cy="68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" name="Google Shape;242;p23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pic>
          <p:nvPicPr>
            <p:cNvPr id="30" name="Google Shape;243;p23"/>
            <p:cNvPicPr/>
            <p:nvPr/>
          </p:nvPicPr>
          <p:blipFill>
            <a:blip r:embed="rId5"/>
            <a:stretch/>
          </p:blipFill>
          <p:spPr>
            <a:xfrm>
              <a:off x="8171280" y="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" name="Google Shape;244;p23"/>
            <p:cNvPicPr/>
            <p:nvPr/>
          </p:nvPicPr>
          <p:blipFill>
            <a:blip r:embed="rId6"/>
            <a:stretch/>
          </p:blipFill>
          <p:spPr>
            <a:xfrm>
              <a:off x="0" y="417060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974180" y="594038"/>
            <a:ext cx="720072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62500" lnSpcReduction="20000"/>
          </a:bodyPr>
          <a:lstStyle/>
          <a:p>
            <a:r>
              <a:rPr lang="en-IN" sz="4800" b="1" dirty="0" err="1">
                <a:latin typeface="Poppins" panose="00000500000000000000" pitchFamily="2" charset="0"/>
                <a:cs typeface="Poppins" panose="00000500000000000000" pitchFamily="2" charset="0"/>
              </a:rPr>
              <a:t>ShellX</a:t>
            </a:r>
            <a:r>
              <a:rPr lang="en-IN" sz="4800" b="1" dirty="0">
                <a:latin typeface="Poppins" panose="00000500000000000000" pitchFamily="2" charset="0"/>
                <a:cs typeface="Poppins" panose="00000500000000000000" pitchFamily="2" charset="0"/>
              </a:rPr>
              <a:t> – Student Linux Toolkit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43240" y="1188780"/>
            <a:ext cx="72007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US" sz="1400" dirty="0"/>
              <a:t>An All-in-One Menu-Driven Linux Utility for Students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0F2A0-D41C-4C5B-A31D-ECBDD47973F0}"/>
              </a:ext>
            </a:extLst>
          </p:cNvPr>
          <p:cNvSpPr txBox="1"/>
          <p:nvPr/>
        </p:nvSpPr>
        <p:spPr>
          <a:xfrm>
            <a:off x="375285" y="1820211"/>
            <a:ext cx="4773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Team Name: Tech Together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892AC-B2EC-4AC7-B799-B8FFBA0B451A}"/>
              </a:ext>
            </a:extLst>
          </p:cNvPr>
          <p:cNvSpPr txBox="1"/>
          <p:nvPr/>
        </p:nvSpPr>
        <p:spPr>
          <a:xfrm>
            <a:off x="375285" y="229765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Guide:</a:t>
            </a:r>
            <a:r>
              <a:rPr lang="en-IN" sz="1600" dirty="0"/>
              <a:t> </a:t>
            </a:r>
            <a:r>
              <a:rPr lang="en-IN" sz="1600" dirty="0" err="1"/>
              <a:t>Dr.</a:t>
            </a:r>
            <a:r>
              <a:rPr lang="en-IN" sz="1600" dirty="0"/>
              <a:t> Pavan Kumar </a:t>
            </a:r>
            <a:r>
              <a:rPr lang="en-IN" sz="1600" dirty="0" err="1"/>
              <a:t>Pagadala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00F2D-63E4-4BB0-AF78-76613ABCB760}"/>
              </a:ext>
            </a:extLst>
          </p:cNvPr>
          <p:cNvSpPr txBox="1"/>
          <p:nvPr/>
        </p:nvSpPr>
        <p:spPr>
          <a:xfrm>
            <a:off x="5635080" y="222562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Team Members: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39DA261-0691-4CA3-A7F1-F6595B017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713604"/>
              </p:ext>
            </p:extLst>
          </p:nvPr>
        </p:nvGraphicFramePr>
        <p:xfrm>
          <a:off x="4779169" y="2636340"/>
          <a:ext cx="4602956" cy="1676400"/>
        </p:xfrm>
        <a:graphic>
          <a:graphicData uri="http://schemas.openxmlformats.org/drawingml/2006/table">
            <a:tbl>
              <a:tblPr/>
              <a:tblGrid>
                <a:gridCol w="2301478">
                  <a:extLst>
                    <a:ext uri="{9D8B030D-6E8A-4147-A177-3AD203B41FA5}">
                      <a16:colId xmlns:a16="http://schemas.microsoft.com/office/drawing/2014/main" val="413783659"/>
                    </a:ext>
                  </a:extLst>
                </a:gridCol>
                <a:gridCol w="2301478">
                  <a:extLst>
                    <a:ext uri="{9D8B030D-6E8A-4147-A177-3AD203B41FA5}">
                      <a16:colId xmlns:a16="http://schemas.microsoft.com/office/drawing/2014/main" val="41373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600"/>
                        <a:t>Roll 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432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/>
                        <a:t>2510030379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P.Bhavya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64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/>
                        <a:t>2510030350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Sejal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Heda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832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/>
                        <a:t>2510030330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T.Hansika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239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/>
                        <a:t>2510030325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B.Siri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32528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723960" y="542880"/>
            <a:ext cx="77054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/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Problem Statement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0500" y="1402020"/>
            <a:ext cx="4219620" cy="188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r>
              <a:rPr lang="en-US" sz="1600" dirty="0"/>
              <a:t>Many beginners find </a:t>
            </a:r>
            <a:r>
              <a:rPr lang="en-US" sz="1600" b="1" dirty="0"/>
              <a:t>Ubuntu</a:t>
            </a:r>
            <a:r>
              <a:rPr lang="en-US" sz="1600" dirty="0"/>
              <a:t> and </a:t>
            </a:r>
            <a:r>
              <a:rPr lang="en-US" sz="1600" b="1" dirty="0"/>
              <a:t>Linux</a:t>
            </a:r>
            <a:r>
              <a:rPr lang="en-US" sz="1600" dirty="0"/>
              <a:t> commands difficult to remember for everyday tasks such as file management, system information, and command execution. </a:t>
            </a:r>
            <a:r>
              <a:rPr lang="en-US" sz="1600" b="1" dirty="0" err="1"/>
              <a:t>ShellX</a:t>
            </a:r>
            <a:r>
              <a:rPr lang="en-US" sz="1600" dirty="0"/>
              <a:t> simplifies these tasks by providing a single menu-driven application, making Linux easier to learn while offering practical experience with C programming and Operating System concepts.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69875574-42C4-4A66-820E-46C9E83B6A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03C5F-9F34-41A6-8ABE-371E7D1CB3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37"/>
          <a:stretch/>
        </p:blipFill>
        <p:spPr>
          <a:xfrm>
            <a:off x="5482180" y="1274400"/>
            <a:ext cx="3027500" cy="344238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/>
            <a:r>
              <a:rPr lang="en-IN" sz="3200" b="1" dirty="0">
                <a:latin typeface="Poppins" panose="00000500000000000000" pitchFamily="2" charset="0"/>
                <a:cs typeface="Poppins" panose="00000500000000000000" pitchFamily="2" charset="0"/>
              </a:rPr>
              <a:t>Core Modules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E60064-70B1-4594-87E7-7329C6485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159553"/>
              </p:ext>
            </p:extLst>
          </p:nvPr>
        </p:nvGraphicFramePr>
        <p:xfrm>
          <a:off x="228600" y="944879"/>
          <a:ext cx="8663940" cy="4109968"/>
        </p:xfrm>
        <a:graphic>
          <a:graphicData uri="http://schemas.openxmlformats.org/drawingml/2006/table">
            <a:tbl>
              <a:tblPr/>
              <a:tblGrid>
                <a:gridCol w="4331970">
                  <a:extLst>
                    <a:ext uri="{9D8B030D-6E8A-4147-A177-3AD203B41FA5}">
                      <a16:colId xmlns:a16="http://schemas.microsoft.com/office/drawing/2014/main" val="3466546147"/>
                    </a:ext>
                  </a:extLst>
                </a:gridCol>
                <a:gridCol w="4331970">
                  <a:extLst>
                    <a:ext uri="{9D8B030D-6E8A-4147-A177-3AD203B41FA5}">
                      <a16:colId xmlns:a16="http://schemas.microsoft.com/office/drawing/2014/main" val="1252392522"/>
                    </a:ext>
                  </a:extLst>
                </a:gridCol>
              </a:tblGrid>
              <a:tr h="311429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rgbClr val="FF0000"/>
                          </a:solidFill>
                        </a:rPr>
                        <a:t>Module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</a:rPr>
                        <a:t>Description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796210"/>
                  </a:ext>
                </a:extLst>
              </a:tr>
              <a:tr h="545001">
                <a:tc>
                  <a:txBody>
                    <a:bodyPr/>
                    <a:lstStyle/>
                    <a:p>
                      <a:r>
                        <a:rPr lang="en-IN" sz="1600" b="1"/>
                        <a:t>File Manager</a:t>
                      </a:r>
                      <a:endParaRPr lang="en-IN" sz="16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Create, delete, rename, copy, move, search, and display files.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869355"/>
                  </a:ext>
                </a:extLst>
              </a:tr>
              <a:tr h="545001">
                <a:tc>
                  <a:txBody>
                    <a:bodyPr/>
                    <a:lstStyle/>
                    <a:p>
                      <a:r>
                        <a:rPr lang="en-IN" sz="1600" b="1" dirty="0"/>
                        <a:t>Command Runner</a:t>
                      </a:r>
                      <a:endParaRPr lang="en-IN" sz="160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Execute common Linux commands like ls, pwd, date, and whoami.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812564"/>
                  </a:ext>
                </a:extLst>
              </a:tr>
              <a:tr h="545001">
                <a:tc>
                  <a:txBody>
                    <a:bodyPr/>
                    <a:lstStyle/>
                    <a:p>
                      <a:r>
                        <a:rPr lang="en-IN" sz="1600" b="1"/>
                        <a:t>Notes Manager</a:t>
                      </a:r>
                      <a:endParaRPr lang="en-IN" sz="16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Create, view, edit, and delete personal notes stored in text files.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46317"/>
                  </a:ext>
                </a:extLst>
              </a:tr>
              <a:tr h="311429">
                <a:tc>
                  <a:txBody>
                    <a:bodyPr/>
                    <a:lstStyle/>
                    <a:p>
                      <a:r>
                        <a:rPr lang="en-IN" sz="1600" b="1"/>
                        <a:t>Calculator</a:t>
                      </a:r>
                      <a:endParaRPr lang="en-IN" sz="16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Perform basic arithmetic operations.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483129"/>
                  </a:ext>
                </a:extLst>
              </a:tr>
              <a:tr h="545001">
                <a:tc>
                  <a:txBody>
                    <a:bodyPr/>
                    <a:lstStyle/>
                    <a:p>
                      <a:r>
                        <a:rPr lang="en-IN" sz="1600" b="1"/>
                        <a:t>System Information</a:t>
                      </a:r>
                      <a:endParaRPr lang="en-IN" sz="16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Display current user, date, time, CPU, RAM, disk usage, and current directory.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346118"/>
                  </a:ext>
                </a:extLst>
              </a:tr>
              <a:tr h="545001">
                <a:tc>
                  <a:txBody>
                    <a:bodyPr/>
                    <a:lstStyle/>
                    <a:p>
                      <a:r>
                        <a:rPr lang="en-IN" sz="1600" b="1"/>
                        <a:t>Help Guide</a:t>
                      </a:r>
                      <a:endParaRPr lang="en-IN" sz="16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Provides a quick reference for commonly used Linux commands.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180057"/>
                  </a:ext>
                </a:extLst>
              </a:tr>
              <a:tr h="545001">
                <a:tc>
                  <a:txBody>
                    <a:bodyPr/>
                    <a:lstStyle/>
                    <a:p>
                      <a:r>
                        <a:rPr lang="en-IN" sz="1600" b="1"/>
                        <a:t>Password Generator</a:t>
                      </a:r>
                      <a:endParaRPr lang="en-IN" sz="16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Generates secure random passwords based on user-defined length.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76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5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/>
          <p:cNvSpPr/>
          <p:nvPr/>
        </p:nvSpPr>
        <p:spPr>
          <a:xfrm>
            <a:off x="47628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5169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252396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5169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457200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5169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ctangle: Rounded Corners 57"/>
          <p:cNvSpPr/>
          <p:nvPr/>
        </p:nvSpPr>
        <p:spPr>
          <a:xfrm>
            <a:off x="662004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5169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76280" y="44994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202A41"/>
                </a:solidFill>
                <a:effectLst/>
                <a:uFillTx/>
                <a:latin typeface="Poppins"/>
              </a:rPr>
              <a:t>Objectives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7628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02A41"/>
                </a:solidFill>
                <a:effectLst/>
                <a:uFillTx/>
                <a:latin typeface="Poppins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66720" y="2133720"/>
            <a:ext cx="153324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22860" y="2721360"/>
            <a:ext cx="1533240" cy="187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bg1"/>
                </a:solidFill>
              </a:rPr>
              <a:t>Develop a menu-driven toolkit that allows beginners to perform common Linux tasks without remembering multiple terminal commands.</a:t>
            </a:r>
            <a:endParaRPr lang="en-US" sz="1200" b="0" u="none" strike="noStrike" dirty="0">
              <a:solidFill>
                <a:schemeClr val="bg1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52396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02A41"/>
                </a:solidFill>
                <a:effectLst/>
                <a:uFillTx/>
                <a:latin typeface="Poppins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867160" y="1958340"/>
            <a:ext cx="1533240" cy="809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Poppins"/>
              </a:rPr>
              <a:t>Enhance Practical Learning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714400" y="2768190"/>
            <a:ext cx="1533240" cy="1669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bg1"/>
                </a:solidFill>
              </a:rPr>
              <a:t>Provide hands-on experience with Ubuntu, Linux commands, and C programming through an interactive application.</a:t>
            </a:r>
            <a:endParaRPr lang="en-US" sz="1200" b="0" u="none" strike="noStrike" dirty="0">
              <a:solidFill>
                <a:schemeClr val="bg1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57200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02A41"/>
                </a:solidFill>
                <a:effectLst/>
                <a:uFillTx/>
                <a:latin typeface="Poppins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896360" y="1973055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Poppins"/>
              </a:rPr>
              <a:t>Apply OS Concepts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762440" y="2768190"/>
            <a:ext cx="1533240" cy="11103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bg1"/>
                </a:solidFill>
              </a:rPr>
              <a:t>Implement Operating System concepts such as file handling, process execution, system information, and command execution.</a:t>
            </a:r>
            <a:endParaRPr lang="en-US" sz="1200" b="0" u="none" strike="noStrike" dirty="0">
              <a:solidFill>
                <a:schemeClr val="bg1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62004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02A41"/>
                </a:solidFill>
                <a:effectLst/>
                <a:uFillTx/>
                <a:latin typeface="Poppins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840960" y="1920360"/>
            <a:ext cx="17106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Poppins"/>
              </a:rPr>
              <a:t>User-Friendly Toolkit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810480" y="2666880"/>
            <a:ext cx="153324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bg1"/>
                </a:solidFill>
              </a:rPr>
              <a:t>Create a modular, easy-to-use application that can be expanded with additional Linux utilities throughout the semester.</a:t>
            </a:r>
            <a:endParaRPr lang="en-US" sz="1200" b="0" u="none" strike="noStrike" dirty="0">
              <a:solidFill>
                <a:schemeClr val="bg1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597CD4-D366-4F70-9832-ECC7166B1117}"/>
              </a:ext>
            </a:extLst>
          </p:cNvPr>
          <p:cNvSpPr/>
          <p:nvPr/>
        </p:nvSpPr>
        <p:spPr>
          <a:xfrm>
            <a:off x="678000" y="2019240"/>
            <a:ext cx="1533240" cy="5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Poppins"/>
              </a:rPr>
              <a:t>Simplify Linux Operations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/>
          <p:cNvSpPr/>
          <p:nvPr/>
        </p:nvSpPr>
        <p:spPr>
          <a:xfrm>
            <a:off x="476460" y="47232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/>
            <a:r>
              <a:rPr lang="en-IN" sz="3200" b="1" dirty="0">
                <a:latin typeface="Poppins" panose="00000500000000000000" pitchFamily="2" charset="0"/>
                <a:cs typeface="Poppins" panose="00000500000000000000" pitchFamily="2" charset="0"/>
              </a:rPr>
              <a:t>Technologies Used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2C47554-ADC9-4DFB-AA8B-0AC3E807E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874691"/>
              </p:ext>
            </p:extLst>
          </p:nvPr>
        </p:nvGraphicFramePr>
        <p:xfrm>
          <a:off x="1089660" y="1326674"/>
          <a:ext cx="7094220" cy="2865120"/>
        </p:xfrm>
        <a:graphic>
          <a:graphicData uri="http://schemas.openxmlformats.org/drawingml/2006/table">
            <a:tbl>
              <a:tblPr/>
              <a:tblGrid>
                <a:gridCol w="3547110">
                  <a:extLst>
                    <a:ext uri="{9D8B030D-6E8A-4147-A177-3AD203B41FA5}">
                      <a16:colId xmlns:a16="http://schemas.microsoft.com/office/drawing/2014/main" val="2179521411"/>
                    </a:ext>
                  </a:extLst>
                </a:gridCol>
                <a:gridCol w="3547110">
                  <a:extLst>
                    <a:ext uri="{9D8B030D-6E8A-4147-A177-3AD203B41FA5}">
                      <a16:colId xmlns:a16="http://schemas.microsoft.com/office/drawing/2014/main" val="1327686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91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C Language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Core programming language used to develop the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031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Ubuntu Linux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Development and execution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043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GCC Compiler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Compiles the C source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064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Makefile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Automates project compilation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33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Git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Version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16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GitHub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Project collaboration and repository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440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Linux Terminal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Running and testing the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9545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476460" y="31992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202A41"/>
                </a:solidFill>
                <a:effectLst/>
                <a:uFillTx/>
                <a:latin typeface="Poppins"/>
              </a:rPr>
              <a:t>Application Workflow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34AE6-2F05-4A83-BC3F-CA5773DB571B}"/>
              </a:ext>
            </a:extLst>
          </p:cNvPr>
          <p:cNvSpPr txBox="1"/>
          <p:nvPr/>
        </p:nvSpPr>
        <p:spPr>
          <a:xfrm>
            <a:off x="2842260" y="957739"/>
            <a:ext cx="6096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 User</a:t>
            </a:r>
          </a:p>
          <a:p>
            <a:r>
              <a:rPr lang="en-IN" sz="1400" dirty="0"/>
              <a:t>               │</a:t>
            </a:r>
          </a:p>
          <a:p>
            <a:r>
              <a:rPr lang="en-IN" sz="1400" dirty="0"/>
              <a:t>               ▼</a:t>
            </a:r>
          </a:p>
          <a:p>
            <a:r>
              <a:rPr lang="en-IN" sz="1400" dirty="0"/>
              <a:t>      </a:t>
            </a:r>
            <a:r>
              <a:rPr lang="en-IN" sz="1400" dirty="0" err="1"/>
              <a:t>ShellX</a:t>
            </a:r>
            <a:r>
              <a:rPr lang="en-IN" sz="1400" dirty="0"/>
              <a:t> Main Menu</a:t>
            </a:r>
          </a:p>
          <a:p>
            <a:r>
              <a:rPr lang="en-IN" sz="1400" dirty="0"/>
              <a:t>               │</a:t>
            </a:r>
          </a:p>
          <a:p>
            <a:r>
              <a:rPr lang="en-IN" sz="1400" dirty="0"/>
              <a:t> ┌─────────────┼─────────────┐</a:t>
            </a:r>
          </a:p>
          <a:p>
            <a:r>
              <a:rPr lang="en-IN" sz="1400" dirty="0"/>
              <a:t> │             │             │</a:t>
            </a:r>
          </a:p>
          <a:p>
            <a:r>
              <a:rPr lang="en-IN" sz="1400" dirty="0"/>
              <a:t> ▼             ▼             ▼</a:t>
            </a:r>
          </a:p>
          <a:p>
            <a:r>
              <a:rPr lang="en-IN" sz="1400" dirty="0"/>
              <a:t>File      Command      Notes</a:t>
            </a:r>
          </a:p>
          <a:p>
            <a:r>
              <a:rPr lang="en-IN" sz="1400" dirty="0"/>
              <a:t>Manager    Runner      Manager</a:t>
            </a:r>
          </a:p>
          <a:p>
            <a:r>
              <a:rPr lang="en-IN" sz="1400" dirty="0"/>
              <a:t> │             │             │</a:t>
            </a:r>
          </a:p>
          <a:p>
            <a:r>
              <a:rPr lang="en-IN" sz="1400" dirty="0"/>
              <a:t> ▼             ▼             ▼</a:t>
            </a:r>
          </a:p>
          <a:p>
            <a:r>
              <a:rPr lang="en-IN" sz="1400" dirty="0"/>
              <a:t>Performs Requested Operation</a:t>
            </a:r>
          </a:p>
          <a:p>
            <a:r>
              <a:rPr lang="en-IN" sz="1400" dirty="0"/>
              <a:t>               │</a:t>
            </a:r>
          </a:p>
          <a:p>
            <a:r>
              <a:rPr lang="en-IN" sz="1400" dirty="0"/>
              <a:t>               ▼</a:t>
            </a:r>
          </a:p>
          <a:p>
            <a:r>
              <a:rPr lang="en-IN" sz="1400" dirty="0"/>
              <a:t>        Display Result</a:t>
            </a:r>
          </a:p>
          <a:p>
            <a:r>
              <a:rPr lang="en-IN" sz="1400" dirty="0"/>
              <a:t>               │</a:t>
            </a:r>
          </a:p>
          <a:p>
            <a:r>
              <a:rPr lang="en-IN" sz="1400" dirty="0"/>
              <a:t>               ▼</a:t>
            </a:r>
          </a:p>
          <a:p>
            <a:r>
              <a:rPr lang="en-IN" sz="1400" dirty="0"/>
              <a:t>        Return to Main Menu</a:t>
            </a:r>
          </a:p>
        </p:txBody>
      </p:sp>
    </p:spTree>
    <p:extLst>
      <p:ext uri="{BB962C8B-B14F-4D97-AF65-F5344CB8AC3E}">
        <p14:creationId xmlns:p14="http://schemas.microsoft.com/office/powerpoint/2010/main" val="24264282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/>
            <a:r>
              <a:rPr lang="en-IN" sz="3200" b="1" dirty="0">
                <a:latin typeface="Poppins" panose="00000500000000000000" pitchFamily="2" charset="0"/>
                <a:cs typeface="Poppins" panose="00000500000000000000" pitchFamily="2" charset="0"/>
              </a:rPr>
              <a:t>Extra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664827-6501-428E-ACC2-77E345098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573659"/>
              </p:ext>
            </p:extLst>
          </p:nvPr>
        </p:nvGraphicFramePr>
        <p:xfrm>
          <a:off x="700680" y="982980"/>
          <a:ext cx="7966680" cy="3998760"/>
        </p:xfrm>
        <a:graphic>
          <a:graphicData uri="http://schemas.openxmlformats.org/drawingml/2006/table">
            <a:tbl>
              <a:tblPr/>
              <a:tblGrid>
                <a:gridCol w="3983340">
                  <a:extLst>
                    <a:ext uri="{9D8B030D-6E8A-4147-A177-3AD203B41FA5}">
                      <a16:colId xmlns:a16="http://schemas.microsoft.com/office/drawing/2014/main" val="937955667"/>
                    </a:ext>
                  </a:extLst>
                </a:gridCol>
                <a:gridCol w="3983340">
                  <a:extLst>
                    <a:ext uri="{9D8B030D-6E8A-4147-A177-3AD203B41FA5}">
                      <a16:colId xmlns:a16="http://schemas.microsoft.com/office/drawing/2014/main" val="1478530414"/>
                    </a:ext>
                  </a:extLst>
                </a:gridCol>
              </a:tblGrid>
              <a:tr h="277999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rgbClr val="FF0000"/>
                          </a:solidFill>
                        </a:rPr>
                        <a:t>Feature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Description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188092"/>
                  </a:ext>
                </a:extLst>
              </a:tr>
              <a:tr h="486498">
                <a:tc>
                  <a:txBody>
                    <a:bodyPr/>
                    <a:lstStyle/>
                    <a:p>
                      <a:r>
                        <a:rPr lang="en-IN" sz="1400" b="1" dirty="0"/>
                        <a:t>Welcome Screen</a:t>
                      </a:r>
                      <a:endParaRPr lang="en-IN" sz="14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project title, team details, and current date &amp; time.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034480"/>
                  </a:ext>
                </a:extLst>
              </a:tr>
              <a:tr h="486498">
                <a:tc>
                  <a:txBody>
                    <a:bodyPr/>
                    <a:lstStyle/>
                    <a:p>
                      <a:r>
                        <a:rPr lang="en-IN" sz="1400" b="1"/>
                        <a:t>Colored Terminal Interface</a:t>
                      </a:r>
                      <a:endParaRPr lang="en-IN" sz="14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Makes the terminal interface more attractive and user-friendly.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428170"/>
                  </a:ext>
                </a:extLst>
              </a:tr>
              <a:tr h="486498">
                <a:tc>
                  <a:txBody>
                    <a:bodyPr/>
                    <a:lstStyle/>
                    <a:p>
                      <a:r>
                        <a:rPr lang="en-IN" sz="1400" b="1"/>
                        <a:t>Command History</a:t>
                      </a:r>
                      <a:endParaRPr lang="en-IN" sz="14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Displays recently executed commands for quick reference.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725439"/>
                  </a:ext>
                </a:extLst>
              </a:tr>
              <a:tr h="486498">
                <a:tc>
                  <a:txBody>
                    <a:bodyPr/>
                    <a:lstStyle/>
                    <a:p>
                      <a:r>
                        <a:rPr lang="en-IN" sz="1400" b="1"/>
                        <a:t>Favorite Commands</a:t>
                      </a:r>
                      <a:endParaRPr lang="en-IN" sz="14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Saves frequently used Linux commands for easy access.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755176"/>
                  </a:ext>
                </a:extLst>
              </a:tr>
              <a:tr h="277999">
                <a:tc>
                  <a:txBody>
                    <a:bodyPr/>
                    <a:lstStyle/>
                    <a:p>
                      <a:r>
                        <a:rPr lang="en-IN" sz="1400" b="1"/>
                        <a:t>Digital Clock</a:t>
                      </a:r>
                      <a:endParaRPr lang="en-IN" sz="14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Displays the current system time.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85430"/>
                  </a:ext>
                </a:extLst>
              </a:tr>
              <a:tr h="277999">
                <a:tc>
                  <a:txBody>
                    <a:bodyPr/>
                    <a:lstStyle/>
                    <a:p>
                      <a:r>
                        <a:rPr lang="en-IN" sz="1400" b="1"/>
                        <a:t>Calendar Viewer</a:t>
                      </a:r>
                      <a:endParaRPr lang="en-IN" sz="14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Displays the monthly calendar.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035481"/>
                  </a:ext>
                </a:extLst>
              </a:tr>
              <a:tr h="277999">
                <a:tc>
                  <a:txBody>
                    <a:bodyPr/>
                    <a:lstStyle/>
                    <a:p>
                      <a:r>
                        <a:rPr lang="en-IN" sz="1400" b="1"/>
                        <a:t>Session Log</a:t>
                      </a:r>
                      <a:endParaRPr lang="en-IN" sz="14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Records user activities during the current session.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175284"/>
                  </a:ext>
                </a:extLst>
              </a:tr>
              <a:tr h="486498">
                <a:tc>
                  <a:txBody>
                    <a:bodyPr/>
                    <a:lstStyle/>
                    <a:p>
                      <a:r>
                        <a:rPr lang="en-IN" sz="1400" b="1"/>
                        <a:t>Help Menu</a:t>
                      </a:r>
                      <a:endParaRPr lang="en-IN" sz="14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Provides information about modules and Linux commands.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731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95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/>
            <a:r>
              <a:rPr lang="en-IN" sz="3200" b="1" dirty="0">
                <a:latin typeface="Poppins" panose="00000500000000000000" pitchFamily="2" charset="0"/>
                <a:cs typeface="Poppins" panose="00000500000000000000" pitchFamily="2" charset="0"/>
              </a:rPr>
              <a:t>User Interaction Flow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105D62-CFD6-471C-988C-186CE8D44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23954"/>
              </p:ext>
            </p:extLst>
          </p:nvPr>
        </p:nvGraphicFramePr>
        <p:xfrm>
          <a:off x="327660" y="1219994"/>
          <a:ext cx="8339700" cy="3291840"/>
        </p:xfrm>
        <a:graphic>
          <a:graphicData uri="http://schemas.openxmlformats.org/drawingml/2006/table">
            <a:tbl>
              <a:tblPr/>
              <a:tblGrid>
                <a:gridCol w="2084925">
                  <a:extLst>
                    <a:ext uri="{9D8B030D-6E8A-4147-A177-3AD203B41FA5}">
                      <a16:colId xmlns:a16="http://schemas.microsoft.com/office/drawing/2014/main" val="3309414698"/>
                    </a:ext>
                  </a:extLst>
                </a:gridCol>
                <a:gridCol w="2084925">
                  <a:extLst>
                    <a:ext uri="{9D8B030D-6E8A-4147-A177-3AD203B41FA5}">
                      <a16:colId xmlns:a16="http://schemas.microsoft.com/office/drawing/2014/main" val="1301904762"/>
                    </a:ext>
                  </a:extLst>
                </a:gridCol>
                <a:gridCol w="2084925">
                  <a:extLst>
                    <a:ext uri="{9D8B030D-6E8A-4147-A177-3AD203B41FA5}">
                      <a16:colId xmlns:a16="http://schemas.microsoft.com/office/drawing/2014/main" val="3034364662"/>
                    </a:ext>
                  </a:extLst>
                </a:gridCol>
                <a:gridCol w="2084925">
                  <a:extLst>
                    <a:ext uri="{9D8B030D-6E8A-4147-A177-3AD203B41FA5}">
                      <a16:colId xmlns:a16="http://schemas.microsoft.com/office/drawing/2014/main" val="1629250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User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C Concepts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42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Welcome Screen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Start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Welcome message with date &amp;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printf(), &lt;time.h&gt;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23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File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Create/Delete/Rename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Success/Error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File Handling (fopen(), fprintf())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890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Command Runner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Select Linux 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Command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system() </a:t>
                      </a:r>
                      <a:r>
                        <a:rPr lang="en-IN" sz="1400" i="1"/>
                        <a:t>(initially)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583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Notes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Add/View 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Notes Saved or Displayed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File I/O, Strings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38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Calculator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Enter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Calculated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Functions, switch-case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730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System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Select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Displays System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system(), Strings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93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Password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Enter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Random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rand(), Arrays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241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42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202A41"/>
                </a:solidFill>
                <a:effectLst/>
                <a:uFillTx/>
                <a:latin typeface="Poppins"/>
              </a:rPr>
              <a:t>Expected Outcome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128FE-E24D-4505-A2E3-7EBF836A89CC}"/>
              </a:ext>
            </a:extLst>
          </p:cNvPr>
          <p:cNvSpPr txBox="1"/>
          <p:nvPr/>
        </p:nvSpPr>
        <p:spPr>
          <a:xfrm>
            <a:off x="632460" y="1497390"/>
            <a:ext cx="80349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completion, </a:t>
            </a:r>
            <a:r>
              <a:rPr lang="en-US" b="1" dirty="0" err="1"/>
              <a:t>ShellX</a:t>
            </a:r>
            <a:r>
              <a:rPr lang="en-US" dirty="0"/>
              <a:t> will provide a centralized Linux toolkit that enables beginners to perform common Linux tasks through a simple menu-driven interface.</a:t>
            </a:r>
          </a:p>
          <a:p>
            <a:r>
              <a:rPr lang="en-US" dirty="0"/>
              <a:t>The project will improve students' understanding of Ubuntu, Linux commands, C programming, and basic Operating System concepts while providing practical hands-on experience.</a:t>
            </a:r>
          </a:p>
        </p:txBody>
      </p:sp>
    </p:spTree>
    <p:extLst>
      <p:ext uri="{BB962C8B-B14F-4D97-AF65-F5344CB8AC3E}">
        <p14:creationId xmlns:p14="http://schemas.microsoft.com/office/powerpoint/2010/main" val="12644441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0C814EA7-3620-40B3-ADD1-ABDCA0B1C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520" y="1914480"/>
            <a:ext cx="4152600" cy="80021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u="none" strike="noStrike" dirty="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THANK YOU!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633033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625</Words>
  <Application>Microsoft Office PowerPoint</Application>
  <PresentationFormat>On-screen Show (16:9)</PresentationFormat>
  <Paragraphs>141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OpenSymbol</vt:lpstr>
      <vt:lpstr>Poppins</vt:lpstr>
      <vt:lpstr>Symbol</vt:lpstr>
      <vt:lpstr>Wingdings</vt:lpstr>
      <vt:lpstr>Industrial Preliminary Project by Slidesgo</vt:lpstr>
      <vt:lpstr>Industrial Preliminary Project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RAVI</cp:lastModifiedBy>
  <cp:revision>4</cp:revision>
  <dcterms:modified xsi:type="dcterms:W3CDTF">2026-08-05T09:46:50Z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2026-08-04T16:41:44Z</dcterms:created>
  <dc:creator>Slidesgo AI</dc:creator>
  <dc:description/>
  <dc:language>en-US</dc:language>
  <cp:lastModifiedBy>Unknown Creator</cp:lastModifiedBy>
  <dcterms:modified xsi:type="dcterms:W3CDTF">2026-08-04T16:41:44Z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a26c54d8-7583-438b-83e1-24ad1daafd4d</vt:lpwstr>
  </property>
</Properties>
</file>